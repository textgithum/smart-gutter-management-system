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40">
          <p15:clr>
            <a:srgbClr val="A4A3A4"/>
          </p15:clr>
        </p15:guide>
        <p15:guide id="2" pos="14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540"/>
        <p:guide pos="14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ki ram" userId="ee83be976a8ab26d" providerId="LiveId" clId="{236E90A5-22CF-4313-ADA8-AACD3DF262B9}"/>
    <pc:docChg chg="modSld">
      <pc:chgData name="nikki ram" userId="ee83be976a8ab26d" providerId="LiveId" clId="{236E90A5-22CF-4313-ADA8-AACD3DF262B9}" dt="2025-04-06T07:15:40.684" v="0" actId="20577"/>
      <pc:docMkLst>
        <pc:docMk/>
      </pc:docMkLst>
      <pc:sldChg chg="modSp mod">
        <pc:chgData name="nikki ram" userId="ee83be976a8ab26d" providerId="LiveId" clId="{236E90A5-22CF-4313-ADA8-AACD3DF262B9}" dt="2025-04-06T07:15:40.684" v="0" actId="20577"/>
        <pc:sldMkLst>
          <pc:docMk/>
          <pc:sldMk cId="0" sldId="266"/>
        </pc:sldMkLst>
        <pc:spChg chg="mod">
          <ac:chgData name="nikki ram" userId="ee83be976a8ab26d" providerId="LiveId" clId="{236E90A5-22CF-4313-ADA8-AACD3DF262B9}" dt="2025-04-06T07:15:40.684" v="0" actId="20577"/>
          <ac:spMkLst>
            <pc:docMk/>
            <pc:sldMk cId="0" sldId="266"/>
            <ac:spMk id="13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1: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 name="Google Shape;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endParaRPr>
              <a:latin typeface="Calibri"/>
              <a:ea typeface="Calibri"/>
              <a:cs typeface="Calibri"/>
              <a:sym typeface="Calibri"/>
            </a:endParaRPr>
          </a:p>
        </p:txBody>
      </p:sp>
      <p:sp>
        <p:nvSpPr>
          <p:cNvPr id="57" name="Google Shape;57;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1</a:t>
            </a:fld>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0" name="Google Shape;7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30e21f653b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30e21f653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4: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5: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6: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7: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8: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9: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p11:notes"/>
          <p:cNvSpPr txBox="1">
            <a:spLocks noGrp="1"/>
          </p:cNvSpPr>
          <p:nvPr>
            <p:ph type="body" idx="1"/>
          </p:nvPr>
        </p:nvSpPr>
        <p:spPr>
          <a:xfrm>
            <a:off x="685800" y="4400640"/>
            <a:ext cx="5486040" cy="36000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sz="2000" b="0" strike="noStrike">
              <a:latin typeface="Arial"/>
              <a:ea typeface="Arial"/>
              <a:cs typeface="Arial"/>
              <a:sym typeface="Arial"/>
            </a:endParaRPr>
          </a:p>
        </p:txBody>
      </p:sp>
      <p:sp>
        <p:nvSpPr>
          <p:cNvPr id="138" name="Google Shape;138;p11: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12</a:t>
            </a:fld>
            <a:endParaRPr sz="12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3600"/>
              <a:buFont typeface="Arial"/>
              <a:buNone/>
              <a:defRPr sz="3600" b="0" i="0" u="none" strike="noStrike" cap="none">
                <a:solidFill>
                  <a:srgbClr val="000000"/>
                </a:solidFill>
                <a:latin typeface="Arial"/>
                <a:ea typeface="Arial"/>
                <a:cs typeface="Arial"/>
                <a:sym typeface="Arial"/>
              </a:defRPr>
            </a:lvl9pPr>
          </a:lstStyle>
          <a:p>
            <a:endParaRPr/>
          </a:p>
        </p:txBody>
      </p:sp>
      <p:sp>
        <p:nvSpPr>
          <p:cNvPr id="18" name="Google Shape;18;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21" name="Google Shape;21;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1pPr>
            <a:lvl2pPr marL="914400" marR="0" lvl="1"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2pPr>
            <a:lvl3pPr marL="1371600" marR="0" lvl="2"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3pPr>
            <a:lvl4pPr marL="1828800" marR="0" lvl="3"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4pPr>
            <a:lvl5pPr marL="2286000" marR="0" lvl="4"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5pPr>
            <a:lvl6pPr marL="2743200" marR="0" lvl="5"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6pPr>
            <a:lvl7pPr marL="3200400" marR="0" lvl="6"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7pPr>
            <a:lvl8pPr marL="3657600" marR="0" lvl="7"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8pPr>
            <a:lvl9pPr marL="4114800" marR="0" lvl="8" indent="-304800" algn="l" rtl="0">
              <a:lnSpc>
                <a:spcPct val="115000"/>
              </a:lnSpc>
              <a:spcBef>
                <a:spcPts val="1600"/>
              </a:spcBef>
              <a:spcAft>
                <a:spcPts val="1600"/>
              </a:spcAft>
              <a:buClr>
                <a:srgbClr val="000000"/>
              </a:buClr>
              <a:buSzPts val="1200"/>
              <a:buFont typeface="Arial"/>
              <a:buChar char="■"/>
              <a:defRPr sz="1200" b="0" i="0" u="none" strike="noStrike" cap="none">
                <a:solidFill>
                  <a:srgbClr val="000000"/>
                </a:solidFill>
                <a:latin typeface="Arial"/>
                <a:ea typeface="Arial"/>
                <a:cs typeface="Arial"/>
                <a:sym typeface="Arial"/>
              </a:defRPr>
            </a:lvl9pPr>
          </a:lstStyle>
          <a:p>
            <a:endParaRPr/>
          </a:p>
        </p:txBody>
      </p:sp>
      <p:sp>
        <p:nvSpPr>
          <p:cNvPr id="22" name="Google Shape;22;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1pPr>
            <a:lvl2pPr marL="914400" marR="0" lvl="1"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2pPr>
            <a:lvl3pPr marL="1371600" marR="0" lvl="2"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3pPr>
            <a:lvl4pPr marL="1828800" marR="0" lvl="3"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4pPr>
            <a:lvl5pPr marL="2286000" marR="0" lvl="4"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5pPr>
            <a:lvl6pPr marL="2743200" marR="0" lvl="5"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6pPr>
            <a:lvl7pPr marL="3200400" marR="0" lvl="6"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7pPr>
            <a:lvl8pPr marL="3657600" marR="0" lvl="7"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8pPr>
            <a:lvl9pPr marL="4114800" marR="0" lvl="8" indent="-304800" algn="l" rtl="0">
              <a:lnSpc>
                <a:spcPct val="115000"/>
              </a:lnSpc>
              <a:spcBef>
                <a:spcPts val="1600"/>
              </a:spcBef>
              <a:spcAft>
                <a:spcPts val="1600"/>
              </a:spcAft>
              <a:buClr>
                <a:srgbClr val="000000"/>
              </a:buClr>
              <a:buSzPts val="1200"/>
              <a:buFont typeface="Arial"/>
              <a:buChar char="■"/>
              <a:defRPr sz="1200" b="0" i="0" u="none" strike="noStrike" cap="none">
                <a:solidFill>
                  <a:srgbClr val="000000"/>
                </a:solidFill>
                <a:latin typeface="Arial"/>
                <a:ea typeface="Arial"/>
                <a:cs typeface="Arial"/>
                <a:sym typeface="Arial"/>
              </a:defRPr>
            </a:lvl9pPr>
          </a:lstStyle>
          <a:p>
            <a:endParaRPr/>
          </a:p>
        </p:txBody>
      </p:sp>
      <p:sp>
        <p:nvSpPr>
          <p:cNvPr id="23" name="Google Shape;23;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endParaRPr/>
          </a:p>
        </p:txBody>
      </p:sp>
      <p:sp>
        <p:nvSpPr>
          <p:cNvPr id="26" name="Google Shape;26;p6"/>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marR="0" lvl="0" indent="-304800" algn="l" rtl="0">
              <a:lnSpc>
                <a:spcPct val="115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1pPr>
            <a:lvl2pPr marL="914400" marR="0" lvl="1"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2pPr>
            <a:lvl3pPr marL="1371600" marR="0" lvl="2"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3pPr>
            <a:lvl4pPr marL="1828800" marR="0" lvl="3"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4pPr>
            <a:lvl5pPr marL="2286000" marR="0" lvl="4"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5pPr>
            <a:lvl6pPr marL="2743200" marR="0" lvl="5"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6pPr>
            <a:lvl7pPr marL="3200400" marR="0" lvl="6"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7pPr>
            <a:lvl8pPr marL="3657600" marR="0" lvl="7"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8pPr>
            <a:lvl9pPr marL="4114800" marR="0" lvl="8" indent="-304800" algn="l" rtl="0">
              <a:lnSpc>
                <a:spcPct val="115000"/>
              </a:lnSpc>
              <a:spcBef>
                <a:spcPts val="1600"/>
              </a:spcBef>
              <a:spcAft>
                <a:spcPts val="1600"/>
              </a:spcAft>
              <a:buClr>
                <a:srgbClr val="000000"/>
              </a:buClr>
              <a:buSzPts val="1200"/>
              <a:buFont typeface="Arial"/>
              <a:buChar char="■"/>
              <a:defRPr sz="1200" b="0" i="0" u="none" strike="noStrike" cap="none">
                <a:solidFill>
                  <a:srgbClr val="000000"/>
                </a:solidFill>
                <a:latin typeface="Arial"/>
                <a:ea typeface="Arial"/>
                <a:cs typeface="Arial"/>
                <a:sym typeface="Arial"/>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2">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0" name="Google Shape;30;p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1pPr>
            <a:lvl2pPr marL="914400" marR="0" lvl="1"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2pPr>
            <a:lvl3pPr marL="1371600" marR="0" lvl="2"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3pPr>
            <a:lvl4pPr marL="1828800" marR="0" lvl="3"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4pPr>
            <a:lvl5pPr marL="2286000" marR="0" lvl="4"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5pPr>
            <a:lvl6pPr marL="2743200" marR="0" lvl="5"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6pPr>
            <a:lvl7pPr marL="3200400" marR="0" lvl="6"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7pPr>
            <a:lvl8pPr marL="3657600" marR="0" lvl="7"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8pPr>
            <a:lvl9pPr marL="4114800" marR="0" lvl="8" indent="-304800" algn="l" rtl="0">
              <a:lnSpc>
                <a:spcPct val="115000"/>
              </a:lnSpc>
              <a:spcBef>
                <a:spcPts val="1600"/>
              </a:spcBef>
              <a:spcAft>
                <a:spcPts val="1600"/>
              </a:spcAft>
              <a:buClr>
                <a:srgbClr val="000000"/>
              </a:buClr>
              <a:buSzPts val="1200"/>
              <a:buFont typeface="Arial"/>
              <a:buChar char="■"/>
              <a:defRPr sz="1200" b="0" i="0" u="none" strike="noStrike" cap="none">
                <a:solidFill>
                  <a:srgbClr val="000000"/>
                </a:solidFill>
                <a:latin typeface="Arial"/>
                <a:ea typeface="Arial"/>
                <a:cs typeface="Arial"/>
                <a:sym typeface="Arial"/>
              </a:defRPr>
            </a:lvl9pPr>
          </a:lstStyle>
          <a:p>
            <a:endParaRPr/>
          </a:p>
        </p:txBody>
      </p:sp>
      <p:sp>
        <p:nvSpPr>
          <p:cNvPr id="31" name="Google Shape;31;p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1pPr>
            <a:lvl2pPr marL="914400" marR="0" lvl="1"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2pPr>
            <a:lvl3pPr marL="1371600" marR="0" lvl="2"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3pPr>
            <a:lvl4pPr marL="1828800" marR="0" lvl="3"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4pPr>
            <a:lvl5pPr marL="2286000" marR="0" lvl="4"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5pPr>
            <a:lvl6pPr marL="2743200" marR="0" lvl="5"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6pPr>
            <a:lvl7pPr marL="3200400" marR="0" lvl="6"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7pPr>
            <a:lvl8pPr marL="3657600" marR="0" lvl="7"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8pPr>
            <a:lvl9pPr marL="4114800" marR="0" lvl="8" indent="-304800" algn="l" rtl="0">
              <a:lnSpc>
                <a:spcPct val="115000"/>
              </a:lnSpc>
              <a:spcBef>
                <a:spcPts val="1600"/>
              </a:spcBef>
              <a:spcAft>
                <a:spcPts val="1600"/>
              </a:spcAft>
              <a:buClr>
                <a:srgbClr val="000000"/>
              </a:buClr>
              <a:buSzPts val="1200"/>
              <a:buFont typeface="Arial"/>
              <a:buChar char="■"/>
              <a:defRPr sz="1200" b="0" i="0" u="none" strike="noStrike" cap="none">
                <a:solidFill>
                  <a:srgbClr val="000000"/>
                </a:solidFill>
                <a:latin typeface="Arial"/>
                <a:ea typeface="Arial"/>
                <a:cs typeface="Arial"/>
                <a:sym typeface="Arial"/>
              </a:defRPr>
            </a:lvl9pPr>
          </a:lstStyle>
          <a:p>
            <a:endParaRPr/>
          </a:p>
        </p:txBody>
      </p:sp>
      <p:sp>
        <p:nvSpPr>
          <p:cNvPr id="32" name="Google Shape;32;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2">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endParaRPr/>
          </a:p>
        </p:txBody>
      </p:sp>
      <p:sp>
        <p:nvSpPr>
          <p:cNvPr id="35" name="Google Shape;35;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marR="0" lvl="0" indent="-304800" algn="l" rtl="0">
              <a:lnSpc>
                <a:spcPct val="115000"/>
              </a:lnSpc>
              <a:spcBef>
                <a:spcPts val="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1pPr>
            <a:lvl2pPr marL="914400" marR="0" lvl="1"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2pPr>
            <a:lvl3pPr marL="1371600" marR="0" lvl="2"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3pPr>
            <a:lvl4pPr marL="1828800" marR="0" lvl="3"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4pPr>
            <a:lvl5pPr marL="2286000" marR="0" lvl="4"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5pPr>
            <a:lvl6pPr marL="2743200" marR="0" lvl="5"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6pPr>
            <a:lvl7pPr marL="3200400" marR="0" lvl="6"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7pPr>
            <a:lvl8pPr marL="3657600" marR="0" lvl="7" indent="-304800" algn="l" rtl="0">
              <a:lnSpc>
                <a:spcPct val="115000"/>
              </a:lnSpc>
              <a:spcBef>
                <a:spcPts val="1600"/>
              </a:spcBef>
              <a:spcAft>
                <a:spcPts val="0"/>
              </a:spcAft>
              <a:buClr>
                <a:srgbClr val="000000"/>
              </a:buClr>
              <a:buSzPts val="1200"/>
              <a:buFont typeface="Arial"/>
              <a:buChar char="○"/>
              <a:defRPr sz="1200" b="0" i="0" u="none" strike="noStrike" cap="none">
                <a:solidFill>
                  <a:srgbClr val="000000"/>
                </a:solidFill>
                <a:latin typeface="Arial"/>
                <a:ea typeface="Arial"/>
                <a:cs typeface="Arial"/>
                <a:sym typeface="Arial"/>
              </a:defRPr>
            </a:lvl8pPr>
            <a:lvl9pPr marL="4114800" marR="0" lvl="8" indent="-304800" algn="l" rtl="0">
              <a:lnSpc>
                <a:spcPct val="115000"/>
              </a:lnSpc>
              <a:spcBef>
                <a:spcPts val="1600"/>
              </a:spcBef>
              <a:spcAft>
                <a:spcPts val="1600"/>
              </a:spcAft>
              <a:buClr>
                <a:srgbClr val="000000"/>
              </a:buClr>
              <a:buSzPts val="1200"/>
              <a:buFont typeface="Arial"/>
              <a:buChar char="■"/>
              <a:defRPr sz="1200" b="0" i="0" u="none" strike="noStrike" cap="none">
                <a:solidFill>
                  <a:srgbClr val="000000"/>
                </a:solidFill>
                <a:latin typeface="Arial"/>
                <a:ea typeface="Arial"/>
                <a:cs typeface="Arial"/>
                <a:sym typeface="Arial"/>
              </a:defRPr>
            </a:lvl9pPr>
          </a:lstStyle>
          <a:p>
            <a:endParaRPr/>
          </a:p>
        </p:txBody>
      </p:sp>
      <p:sp>
        <p:nvSpPr>
          <p:cNvPr id="36" name="Google Shape;36;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4800"/>
              <a:buFont typeface="Arial"/>
              <a:buNone/>
              <a:defRPr sz="4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4800"/>
              <a:buFont typeface="Arial"/>
              <a:buNone/>
              <a:defRPr sz="4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4800"/>
              <a:buFont typeface="Arial"/>
              <a:buNone/>
              <a:defRPr sz="4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4800"/>
              <a:buFont typeface="Arial"/>
              <a:buNone/>
              <a:defRPr sz="4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4800"/>
              <a:buFont typeface="Arial"/>
              <a:buNone/>
              <a:defRPr sz="4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4800"/>
              <a:buFont typeface="Arial"/>
              <a:buNone/>
              <a:defRPr sz="4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4800"/>
              <a:buFont typeface="Arial"/>
              <a:buNone/>
              <a:defRPr sz="4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4800"/>
              <a:buFont typeface="Arial"/>
              <a:buNone/>
              <a:defRPr sz="4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4800"/>
              <a:buFont typeface="Arial"/>
              <a:buNone/>
              <a:defRPr sz="4800" b="0" i="0" u="none" strike="noStrike" cap="none">
                <a:solidFill>
                  <a:srgbClr val="000000"/>
                </a:solidFill>
                <a:latin typeface="Arial"/>
                <a:ea typeface="Arial"/>
                <a:cs typeface="Arial"/>
                <a:sym typeface="Arial"/>
              </a:defRPr>
            </a:lvl9pPr>
          </a:lstStyle>
          <a:p>
            <a:endParaRPr/>
          </a:p>
        </p:txBody>
      </p:sp>
      <p:sp>
        <p:nvSpPr>
          <p:cNvPr id="39" name="Google Shape;39;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0"/>
        <p:cNvGrpSpPr/>
        <p:nvPr/>
      </p:nvGrpSpPr>
      <p:grpSpPr>
        <a:xfrm>
          <a:off x="0" y="0"/>
          <a:ext cx="0" cy="0"/>
          <a:chOff x="0" y="0"/>
          <a:chExt cx="0" cy="0"/>
        </a:xfrm>
      </p:grpSpPr>
      <p:sp>
        <p:nvSpPr>
          <p:cNvPr id="41" name="Google Shape;41;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rtl="0">
              <a:lnSpc>
                <a:spcPct val="100000"/>
              </a:lnSpc>
              <a:spcBef>
                <a:spcPts val="0"/>
              </a:spcBef>
              <a:spcAft>
                <a:spcPts val="0"/>
              </a:spcAft>
              <a:buClr>
                <a:srgbClr val="000000"/>
              </a:buClr>
              <a:buSzPts val="4200"/>
              <a:buFont typeface="Arial"/>
              <a:buNone/>
              <a:defRPr sz="42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SzPts val="4200"/>
              <a:buFont typeface="Arial"/>
              <a:buNone/>
              <a:defRPr sz="42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4200"/>
              <a:buFont typeface="Arial"/>
              <a:buNone/>
              <a:defRPr sz="42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4200"/>
              <a:buFont typeface="Arial"/>
              <a:buNone/>
              <a:defRPr sz="42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4200"/>
              <a:buFont typeface="Arial"/>
              <a:buNone/>
              <a:defRPr sz="42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4200"/>
              <a:buFont typeface="Arial"/>
              <a:buNone/>
              <a:defRPr sz="42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4200"/>
              <a:buFont typeface="Arial"/>
              <a:buNone/>
              <a:defRPr sz="42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4200"/>
              <a:buFont typeface="Arial"/>
              <a:buNone/>
              <a:defRPr sz="42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4200"/>
              <a:buFont typeface="Arial"/>
              <a:buNone/>
              <a:defRPr sz="4200" b="0" i="0" u="none" strike="noStrike" cap="none">
                <a:solidFill>
                  <a:srgbClr val="000000"/>
                </a:solidFill>
                <a:latin typeface="Arial"/>
                <a:ea typeface="Arial"/>
                <a:cs typeface="Arial"/>
                <a:sym typeface="Arial"/>
              </a:defRPr>
            </a:lvl9pPr>
          </a:lstStyle>
          <a:p>
            <a:endParaRPr/>
          </a:p>
        </p:txBody>
      </p:sp>
      <p:sp>
        <p:nvSpPr>
          <p:cNvPr id="43" name="Google Shape;43;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2100"/>
              <a:buFont typeface="Arial"/>
              <a:buNone/>
              <a:defRPr sz="2100" b="0" i="0" u="none" strike="noStrike" cap="none">
                <a:solidFill>
                  <a:srgbClr val="000000"/>
                </a:solidFill>
                <a:latin typeface="Arial"/>
                <a:ea typeface="Arial"/>
                <a:cs typeface="Arial"/>
                <a:sym typeface="Arial"/>
              </a:defRPr>
            </a:lvl9pPr>
          </a:lstStyle>
          <a:p>
            <a:endParaRPr/>
          </a:p>
        </p:txBody>
      </p:sp>
      <p:sp>
        <p:nvSpPr>
          <p:cNvPr id="44" name="Google Shape;44;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marR="0" lvl="0" indent="-342900" algn="l" rtl="0">
              <a:lnSpc>
                <a:spcPct val="115000"/>
              </a:lnSpc>
              <a:spcBef>
                <a:spcPts val="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115000"/>
              </a:lnSpc>
              <a:spcBef>
                <a:spcPts val="16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115000"/>
              </a:lnSpc>
              <a:spcBef>
                <a:spcPts val="1600"/>
              </a:spcBef>
              <a:spcAft>
                <a:spcPts val="1600"/>
              </a:spcAft>
              <a:buClr>
                <a:srgbClr val="000000"/>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5" name="Google Shape;45;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marR="0" lvl="0" indent="-228600" algn="l" rtl="0">
              <a:lnSpc>
                <a:spcPct val="100000"/>
              </a:lnSpc>
              <a:spcBef>
                <a:spcPts val="0"/>
              </a:spcBef>
              <a:spcAft>
                <a:spcPts val="0"/>
              </a:spcAft>
              <a:buClr>
                <a:srgbClr val="000000"/>
              </a:buClr>
              <a:buSzPts val="1800"/>
              <a:buFont typeface="Arial"/>
              <a:buNone/>
              <a:defRPr sz="1400" b="0" i="0" u="none" strike="noStrike" cap="none">
                <a:solidFill>
                  <a:srgbClr val="000000"/>
                </a:solidFill>
                <a:latin typeface="Arial"/>
                <a:ea typeface="Arial"/>
                <a:cs typeface="Arial"/>
                <a:sym typeface="Arial"/>
              </a:defRPr>
            </a:lvl1pPr>
          </a:lstStyle>
          <a:p>
            <a:endParaRPr/>
          </a:p>
        </p:txBody>
      </p:sp>
      <p:sp>
        <p:nvSpPr>
          <p:cNvPr id="48" name="Google Shape;48;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51"/>
        <p:cNvGrpSpPr/>
        <p:nvPr/>
      </p:nvGrpSpPr>
      <p:grpSpPr>
        <a:xfrm>
          <a:off x="0" y="0"/>
          <a:ext cx="0" cy="0"/>
          <a:chOff x="0" y="0"/>
          <a:chExt cx="0" cy="0"/>
        </a:xfrm>
      </p:grpSpPr>
      <p:sp>
        <p:nvSpPr>
          <p:cNvPr id="52" name="Google Shape;52;p13"/>
          <p:cNvSpPr txBox="1">
            <a:spLocks noGrp="1"/>
          </p:cNvSpPr>
          <p:nvPr>
            <p:ph type="title"/>
          </p:nvPr>
        </p:nvSpPr>
        <p:spPr>
          <a:xfrm>
            <a:off x="628560" y="273780"/>
            <a:ext cx="7886430" cy="99387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53" name="Google Shape;53;p13"/>
          <p:cNvSpPr txBox="1">
            <a:spLocks noGrp="1"/>
          </p:cNvSpPr>
          <p:nvPr>
            <p:ph type="subTitle" idx="1"/>
          </p:nvPr>
        </p:nvSpPr>
        <p:spPr>
          <a:xfrm>
            <a:off x="457110" y="1203390"/>
            <a:ext cx="8229330" cy="298296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6" name="Google Shape;6;p1" descr="A close up of a sign&#10;&#10;Description automatically generated"/>
          <p:cNvPicPr preferRelativeResize="0"/>
          <p:nvPr/>
        </p:nvPicPr>
        <p:blipFill rotWithShape="1">
          <a:blip r:embed="rId14">
            <a:alphaModFix/>
          </a:blip>
          <a:srcRect/>
          <a:stretch/>
        </p:blipFill>
        <p:spPr>
          <a:xfrm>
            <a:off x="5890576" y="50164"/>
            <a:ext cx="1226897" cy="410144"/>
          </a:xfrm>
          <a:prstGeom prst="rect">
            <a:avLst/>
          </a:prstGeom>
          <a:noFill/>
          <a:ln>
            <a:noFill/>
          </a:ln>
        </p:spPr>
      </p:pic>
      <p:pic>
        <p:nvPicPr>
          <p:cNvPr id="7" name="Google Shape;7;p1"/>
          <p:cNvPicPr preferRelativeResize="0"/>
          <p:nvPr/>
        </p:nvPicPr>
        <p:blipFill rotWithShape="1">
          <a:blip r:embed="rId15">
            <a:alphaModFix/>
          </a:blip>
          <a:srcRect/>
          <a:stretch/>
        </p:blipFill>
        <p:spPr>
          <a:xfrm>
            <a:off x="8588173" y="44451"/>
            <a:ext cx="430886" cy="421570"/>
          </a:xfrm>
          <a:prstGeom prst="rect">
            <a:avLst/>
          </a:prstGeom>
          <a:noFill/>
          <a:ln>
            <a:noFill/>
          </a:ln>
        </p:spPr>
      </p:pic>
      <p:pic>
        <p:nvPicPr>
          <p:cNvPr id="8" name="Google Shape;8;p1"/>
          <p:cNvPicPr preferRelativeResize="0"/>
          <p:nvPr/>
        </p:nvPicPr>
        <p:blipFill rotWithShape="1">
          <a:blip r:embed="rId16">
            <a:alphaModFix/>
          </a:blip>
          <a:srcRect/>
          <a:stretch/>
        </p:blipFill>
        <p:spPr>
          <a:xfrm>
            <a:off x="7448295" y="54435"/>
            <a:ext cx="606402" cy="401602"/>
          </a:xfrm>
          <a:prstGeom prst="rect">
            <a:avLst/>
          </a:prstGeom>
          <a:noFill/>
          <a:ln>
            <a:noFill/>
          </a:ln>
        </p:spPr>
      </p:pic>
      <p:cxnSp>
        <p:nvCxnSpPr>
          <p:cNvPr id="9" name="Google Shape;9;p1"/>
          <p:cNvCxnSpPr/>
          <p:nvPr/>
        </p:nvCxnSpPr>
        <p:spPr>
          <a:xfrm>
            <a:off x="7272997" y="44451"/>
            <a:ext cx="0" cy="411586"/>
          </a:xfrm>
          <a:prstGeom prst="straightConnector1">
            <a:avLst/>
          </a:prstGeom>
          <a:noFill/>
          <a:ln w="9525" cap="flat" cmpd="sng">
            <a:solidFill>
              <a:srgbClr val="A5A5A5"/>
            </a:solidFill>
            <a:prstDash val="solid"/>
            <a:round/>
            <a:headEnd type="none" w="sm" len="sm"/>
            <a:tailEnd type="none" w="sm" len="sm"/>
          </a:ln>
        </p:spPr>
      </p:cxnSp>
      <p:cxnSp>
        <p:nvCxnSpPr>
          <p:cNvPr id="10" name="Google Shape;10;p1"/>
          <p:cNvCxnSpPr/>
          <p:nvPr/>
        </p:nvCxnSpPr>
        <p:spPr>
          <a:xfrm>
            <a:off x="8328077" y="44451"/>
            <a:ext cx="0" cy="411586"/>
          </a:xfrm>
          <a:prstGeom prst="straightConnector1">
            <a:avLst/>
          </a:prstGeom>
          <a:noFill/>
          <a:ln w="9525" cap="flat" cmpd="sng">
            <a:solidFill>
              <a:srgbClr val="A5A5A5"/>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1.xml"/><Relationship Id="rId5" Type="http://schemas.openxmlformats.org/officeDocument/2006/relationships/image" Target="../media/image6.jpg"/><Relationship Id="rId4" Type="http://schemas.openxmlformats.org/officeDocument/2006/relationships/hyperlink" Target="http://drive.google.com/file/d/1DWXk8yN9HSkg9lBSZ7sK1U-VIDZ_8s_x/view"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pic>
        <p:nvPicPr>
          <p:cNvPr id="59" name="Google Shape;59;p14"/>
          <p:cNvPicPr preferRelativeResize="0"/>
          <p:nvPr/>
        </p:nvPicPr>
        <p:blipFill rotWithShape="1">
          <a:blip r:embed="rId3">
            <a:alphaModFix/>
          </a:blip>
          <a:srcRect l="5562" r="5562"/>
          <a:stretch/>
        </p:blipFill>
        <p:spPr>
          <a:xfrm>
            <a:off x="1426" y="0"/>
            <a:ext cx="9142574" cy="5143500"/>
          </a:xfrm>
          <a:prstGeom prst="rect">
            <a:avLst/>
          </a:prstGeom>
          <a:noFill/>
          <a:ln>
            <a:noFill/>
          </a:ln>
        </p:spPr>
      </p:pic>
      <p:sp>
        <p:nvSpPr>
          <p:cNvPr id="60" name="Google Shape;60;p14"/>
          <p:cNvSpPr txBox="1"/>
          <p:nvPr/>
        </p:nvSpPr>
        <p:spPr>
          <a:xfrm>
            <a:off x="-139200" y="2777275"/>
            <a:ext cx="6611400" cy="1420800"/>
          </a:xfrm>
          <a:prstGeom prst="rect">
            <a:avLst/>
          </a:prstGeom>
          <a:noFill/>
          <a:ln>
            <a:noFill/>
          </a:ln>
        </p:spPr>
        <p:txBody>
          <a:bodyPr spcFirstLastPara="1" wrap="square" lIns="68575" tIns="34275" rIns="68575" bIns="34275" anchor="b" anchorCtr="0">
            <a:noAutofit/>
          </a:bodyPr>
          <a:lstStyle/>
          <a:p>
            <a:pPr marL="0" marR="0" lvl="0" indent="0" algn="ctr" rtl="0">
              <a:lnSpc>
                <a:spcPct val="90000"/>
              </a:lnSpc>
              <a:spcBef>
                <a:spcPts val="0"/>
              </a:spcBef>
              <a:spcAft>
                <a:spcPts val="0"/>
              </a:spcAft>
              <a:buNone/>
            </a:pPr>
            <a:r>
              <a:rPr lang="en-US" sz="2500" b="1">
                <a:solidFill>
                  <a:schemeClr val="lt1"/>
                </a:solidFill>
              </a:rPr>
              <a:t> Smart Gutter Monitoring and Management System Using IoT and AI</a:t>
            </a:r>
            <a:endParaRPr sz="2500" b="0" i="0" u="none" strike="noStrike" cap="none">
              <a:solidFill>
                <a:schemeClr val="lt1"/>
              </a:solidFill>
              <a:latin typeface="Calibri"/>
              <a:ea typeface="Calibri"/>
              <a:cs typeface="Calibri"/>
              <a:sym typeface="Calibri"/>
            </a:endParaRPr>
          </a:p>
          <a:p>
            <a:pPr marL="0" marR="0" lvl="0" indent="0" algn="ctr" rtl="0">
              <a:lnSpc>
                <a:spcPct val="90000"/>
              </a:lnSpc>
              <a:spcBef>
                <a:spcPts val="0"/>
              </a:spcBef>
              <a:spcAft>
                <a:spcPts val="0"/>
              </a:spcAft>
              <a:buNone/>
            </a:pPr>
            <a:r>
              <a:rPr lang="en-US" sz="2500" b="0" i="0" u="none" strike="noStrike" cap="none">
                <a:solidFill>
                  <a:schemeClr val="lt1"/>
                </a:solidFill>
                <a:latin typeface="Calibri"/>
                <a:ea typeface="Calibri"/>
                <a:cs typeface="Calibri"/>
                <a:sym typeface="Calibri"/>
              </a:rPr>
              <a:t>Team ID - </a:t>
            </a:r>
            <a:r>
              <a:rPr lang="en-US" sz="2500">
                <a:solidFill>
                  <a:schemeClr val="lt1"/>
                </a:solidFill>
                <a:latin typeface="Calibri"/>
                <a:ea typeface="Calibri"/>
                <a:cs typeface="Calibri"/>
                <a:sym typeface="Calibri"/>
              </a:rPr>
              <a:t>10603</a:t>
            </a:r>
            <a:endParaRPr/>
          </a:p>
        </p:txBody>
      </p:sp>
      <p:sp>
        <p:nvSpPr>
          <p:cNvPr id="61" name="Google Shape;61;p14"/>
          <p:cNvSpPr/>
          <p:nvPr/>
        </p:nvSpPr>
        <p:spPr>
          <a:xfrm>
            <a:off x="743414" y="1640947"/>
            <a:ext cx="2988527" cy="87131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62" name="Google Shape;62;p14" descr="A close up of a sign&#10;&#10;Description automatically generated"/>
          <p:cNvPicPr preferRelativeResize="0"/>
          <p:nvPr/>
        </p:nvPicPr>
        <p:blipFill rotWithShape="1">
          <a:blip r:embed="rId4">
            <a:alphaModFix/>
          </a:blip>
          <a:srcRect/>
          <a:stretch/>
        </p:blipFill>
        <p:spPr>
          <a:xfrm>
            <a:off x="815783" y="1971178"/>
            <a:ext cx="1050529" cy="294230"/>
          </a:xfrm>
          <a:prstGeom prst="rect">
            <a:avLst/>
          </a:prstGeom>
          <a:noFill/>
          <a:ln>
            <a:noFill/>
          </a:ln>
        </p:spPr>
      </p:pic>
      <p:pic>
        <p:nvPicPr>
          <p:cNvPr id="63" name="Google Shape;63;p14"/>
          <p:cNvPicPr preferRelativeResize="0"/>
          <p:nvPr/>
        </p:nvPicPr>
        <p:blipFill rotWithShape="1">
          <a:blip r:embed="rId5">
            <a:alphaModFix/>
          </a:blip>
          <a:srcRect/>
          <a:stretch/>
        </p:blipFill>
        <p:spPr>
          <a:xfrm>
            <a:off x="3052197" y="1843398"/>
            <a:ext cx="485958" cy="475451"/>
          </a:xfrm>
          <a:prstGeom prst="rect">
            <a:avLst/>
          </a:prstGeom>
          <a:noFill/>
          <a:ln>
            <a:noFill/>
          </a:ln>
        </p:spPr>
      </p:pic>
      <p:pic>
        <p:nvPicPr>
          <p:cNvPr id="64" name="Google Shape;64;p14"/>
          <p:cNvPicPr preferRelativeResize="0"/>
          <p:nvPr/>
        </p:nvPicPr>
        <p:blipFill rotWithShape="1">
          <a:blip r:embed="rId6">
            <a:alphaModFix/>
          </a:blip>
          <a:srcRect/>
          <a:stretch/>
        </p:blipFill>
        <p:spPr>
          <a:xfrm>
            <a:off x="2115014" y="1919854"/>
            <a:ext cx="599270" cy="396879"/>
          </a:xfrm>
          <a:prstGeom prst="rect">
            <a:avLst/>
          </a:prstGeom>
          <a:noFill/>
          <a:ln>
            <a:noFill/>
          </a:ln>
        </p:spPr>
      </p:pic>
      <p:cxnSp>
        <p:nvCxnSpPr>
          <p:cNvPr id="65" name="Google Shape;65;p14"/>
          <p:cNvCxnSpPr/>
          <p:nvPr/>
        </p:nvCxnSpPr>
        <p:spPr>
          <a:xfrm>
            <a:off x="1984914" y="1859664"/>
            <a:ext cx="0" cy="475451"/>
          </a:xfrm>
          <a:prstGeom prst="straightConnector1">
            <a:avLst/>
          </a:prstGeom>
          <a:noFill/>
          <a:ln w="9525" cap="flat" cmpd="sng">
            <a:solidFill>
              <a:srgbClr val="A5A5A5"/>
            </a:solidFill>
            <a:prstDash val="solid"/>
            <a:round/>
            <a:headEnd type="none" w="sm" len="sm"/>
            <a:tailEnd type="none" w="sm" len="sm"/>
          </a:ln>
        </p:spPr>
      </p:cxnSp>
      <p:cxnSp>
        <p:nvCxnSpPr>
          <p:cNvPr id="66" name="Google Shape;66;p14"/>
          <p:cNvCxnSpPr/>
          <p:nvPr/>
        </p:nvCxnSpPr>
        <p:spPr>
          <a:xfrm>
            <a:off x="2891880" y="1865133"/>
            <a:ext cx="0" cy="475451"/>
          </a:xfrm>
          <a:prstGeom prst="straightConnector1">
            <a:avLst/>
          </a:prstGeom>
          <a:noFill/>
          <a:ln w="9525" cap="flat" cmpd="sng">
            <a:solidFill>
              <a:srgbClr val="A5A5A5"/>
            </a:solidFill>
            <a:prstDash val="solid"/>
            <a:round/>
            <a:headEnd type="none" w="sm" len="sm"/>
            <a:tailEnd type="none" w="sm" len="sm"/>
          </a:ln>
        </p:spPr>
      </p:cxnSp>
      <p:sp>
        <p:nvSpPr>
          <p:cNvPr id="67" name="Google Shape;67;p14"/>
          <p:cNvSpPr txBox="1"/>
          <p:nvPr/>
        </p:nvSpPr>
        <p:spPr>
          <a:xfrm>
            <a:off x="6580950" y="4049550"/>
            <a:ext cx="24687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a:solidFill>
                  <a:schemeClr val="lt1"/>
                </a:solidFill>
              </a:rPr>
              <a:t>Priya Gupta </a:t>
            </a:r>
            <a:endParaRPr/>
          </a:p>
          <a:p>
            <a:pPr marL="0" marR="0" lvl="0" indent="0" algn="l" rtl="0">
              <a:lnSpc>
                <a:spcPct val="100000"/>
              </a:lnSpc>
              <a:spcBef>
                <a:spcPts val="0"/>
              </a:spcBef>
              <a:spcAft>
                <a:spcPts val="0"/>
              </a:spcAft>
              <a:buNone/>
            </a:pPr>
            <a:r>
              <a:rPr lang="en-US" sz="1600">
                <a:solidFill>
                  <a:schemeClr val="lt1"/>
                </a:solidFill>
              </a:rPr>
              <a:t>Nikki Ram</a:t>
            </a:r>
            <a:endParaRPr sz="1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5"/>
          <p:cNvSpPr txBox="1">
            <a:spLocks noGrp="1"/>
          </p:cNvSpPr>
          <p:nvPr>
            <p:ph type="title"/>
          </p:nvPr>
        </p:nvSpPr>
        <p:spPr>
          <a:xfrm>
            <a:off x="364822" y="867160"/>
            <a:ext cx="3009530" cy="214205"/>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1600" b="1" i="0" u="none" strike="noStrike" cap="none">
                <a:solidFill>
                  <a:srgbClr val="213163"/>
                </a:solidFill>
                <a:latin typeface="Arial"/>
                <a:ea typeface="Arial"/>
                <a:cs typeface="Arial"/>
                <a:sym typeface="Arial"/>
              </a:rPr>
              <a:t>Project Objectives</a:t>
            </a:r>
            <a:endParaRPr sz="1600" b="0" i="0" u="none" strike="noStrike" cap="none">
              <a:solidFill>
                <a:srgbClr val="000000"/>
              </a:solidFill>
              <a:latin typeface="Arial"/>
              <a:ea typeface="Arial"/>
              <a:cs typeface="Arial"/>
              <a:sym typeface="Arial"/>
            </a:endParaRPr>
          </a:p>
        </p:txBody>
      </p:sp>
      <p:sp>
        <p:nvSpPr>
          <p:cNvPr id="74" name="Google Shape;74;p15"/>
          <p:cNvSpPr txBox="1"/>
          <p:nvPr/>
        </p:nvSpPr>
        <p:spPr>
          <a:xfrm>
            <a:off x="364822" y="1365005"/>
            <a:ext cx="8370300" cy="3630741"/>
          </a:xfrm>
          <a:prstGeom prst="rect">
            <a:avLst/>
          </a:prstGeom>
          <a:noFill/>
          <a:ln>
            <a:noFill/>
          </a:ln>
        </p:spPr>
        <p:txBody>
          <a:bodyPr spcFirstLastPara="1" wrap="square" lIns="91425" tIns="91425" rIns="91425" bIns="91425" anchor="t" anchorCtr="0">
            <a:noAutofit/>
          </a:bodyPr>
          <a:lstStyle/>
          <a:p>
            <a:pPr marR="0" lvl="0" algn="just" rtl="0">
              <a:lnSpc>
                <a:spcPct val="100000"/>
              </a:lnSpc>
              <a:spcBef>
                <a:spcPts val="0"/>
              </a:spcBef>
              <a:spcAft>
                <a:spcPts val="0"/>
              </a:spcAft>
              <a:buClr>
                <a:srgbClr val="000000"/>
              </a:buClr>
              <a:buSzPts val="1400"/>
            </a:pPr>
            <a:r>
              <a:rPr lang="en-US" sz="1500" b="0" i="0" u="none" strike="noStrike" cap="none" dirty="0">
                <a:solidFill>
                  <a:srgbClr val="000000"/>
                </a:solidFill>
                <a:latin typeface="Times New Roman" panose="02020603050405020304" pitchFamily="18" charset="0"/>
                <a:cs typeface="Times New Roman" panose="02020603050405020304" pitchFamily="18" charset="0"/>
                <a:sym typeface="Arial"/>
              </a:rPr>
              <a:t>The primary objective of this project is to develop a Smart Gutter Monitoring and Management System that ensures efficient drainage and prevents water-related damage. The system will continuously monitor gutter conditions in real time, detecting changes in water levels, flow rates, and environmental factors that may indicate potential issues. By integrating sensors and IoT technology, the system will accurately identify blockages, leaks, and water accumulation, allowing for early intervention. Furthermore, the collected data will be processed and displayed on a user-friendly dashboard or mobile application, providing real-time insights to property owners or maintenance teams. The system will also feature an automated alert mechanism, sending notifications when anomalies such as excessive water buildup, debris accumulation, or structural damage are detected. By enabling proactive maintenance, the solution minimizes the risk of flooding, structural damage, and costly repairs. Ultimately, this project aims to create an efficient and AI-driven predictive maintenance system that enhances urban water management and improves the overall resilience of drainage infrastructure.</a:t>
            </a:r>
            <a:endParaRPr sz="15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182880" marR="0" lvl="0" indent="-93979"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182880" marR="0" lvl="0" indent="-93979"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182880" marR="0" lvl="0" indent="-93979"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182880" marR="0" lvl="0" indent="-93979"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xfrm>
            <a:off x="628560" y="273780"/>
            <a:ext cx="7886400" cy="993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400">
                <a:solidFill>
                  <a:srgbClr val="002060"/>
                </a:solidFill>
              </a:rPr>
              <a:t>Problem Statement</a:t>
            </a:r>
            <a:endParaRPr/>
          </a:p>
        </p:txBody>
      </p:sp>
      <p:sp>
        <p:nvSpPr>
          <p:cNvPr id="80" name="Google Shape;80;p16"/>
          <p:cNvSpPr txBox="1">
            <a:spLocks noGrp="1"/>
          </p:cNvSpPr>
          <p:nvPr>
            <p:ph type="subTitle" idx="1"/>
          </p:nvPr>
        </p:nvSpPr>
        <p:spPr>
          <a:xfrm>
            <a:off x="852800" y="928650"/>
            <a:ext cx="7437900" cy="4215000"/>
          </a:xfrm>
          <a:prstGeom prst="rect">
            <a:avLst/>
          </a:prstGeom>
        </p:spPr>
        <p:txBody>
          <a:bodyPr spcFirstLastPara="1" wrap="square" lIns="0" tIns="0" rIns="0" bIns="0" anchor="ctr" anchorCtr="0">
            <a:noAutofit/>
          </a:bodyPr>
          <a:lstStyle/>
          <a:p>
            <a:pPr marL="0" lvl="0" indent="0" algn="just" rtl="0">
              <a:spcBef>
                <a:spcPts val="0"/>
              </a:spcBef>
              <a:spcAft>
                <a:spcPts val="0"/>
              </a:spcAft>
              <a:buNone/>
            </a:pPr>
            <a:r>
              <a:rPr lang="en-US" sz="1500" dirty="0">
                <a:latin typeface="Times New Roman"/>
                <a:ea typeface="Times New Roman"/>
                <a:cs typeface="Times New Roman"/>
                <a:sym typeface="Times New Roman"/>
              </a:rPr>
              <a:t>During the rainy season, blocked or damaged gutters can lead to severe issues such as water overflow, flooding, and property damage. Traditional methods of monitoring and cleaning gutters are reactive, inefficient, and labor-intensive. There is a need for a smart solution that can proactively monitor gutter conditions, detect potential blockages or leaks, and provide real-time alerts to prevent damage and ensure effective water drainage.</a:t>
            </a:r>
            <a:endParaRPr sz="1500" dirty="0">
              <a:latin typeface="Times New Roman"/>
              <a:ea typeface="Times New Roman"/>
              <a:cs typeface="Times New Roman"/>
              <a:sym typeface="Times New Roman"/>
            </a:endParaRPr>
          </a:p>
          <a:p>
            <a:pPr marL="457200" lvl="0" indent="-323850" algn="just" rtl="0">
              <a:lnSpc>
                <a:spcPct val="115000"/>
              </a:lnSpc>
              <a:spcBef>
                <a:spcPts val="1200"/>
              </a:spcBef>
              <a:spcAft>
                <a:spcPts val="0"/>
              </a:spcAft>
              <a:buClr>
                <a:schemeClr val="dk1"/>
              </a:buClr>
              <a:buSzPts val="1500"/>
              <a:buChar char="●"/>
            </a:pPr>
            <a:r>
              <a:rPr lang="en-US" sz="1500" b="1" dirty="0">
                <a:solidFill>
                  <a:schemeClr val="dk1"/>
                </a:solidFill>
                <a:latin typeface="Times New Roman"/>
                <a:ea typeface="Times New Roman"/>
                <a:cs typeface="Times New Roman"/>
                <a:sym typeface="Times New Roman"/>
              </a:rPr>
              <a:t>Overflow</a:t>
            </a:r>
            <a:r>
              <a:rPr lang="en-US" sz="1500" dirty="0">
                <a:solidFill>
                  <a:schemeClr val="dk1"/>
                </a:solidFill>
                <a:latin typeface="Times New Roman"/>
                <a:ea typeface="Times New Roman"/>
                <a:cs typeface="Times New Roman"/>
                <a:sym typeface="Times New Roman"/>
              </a:rPr>
              <a:t> due to heavy rainfall, leading to waterlogging and potential property damage.</a:t>
            </a:r>
            <a:endParaRPr sz="1500" dirty="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dirty="0">
                <a:solidFill>
                  <a:schemeClr val="dk1"/>
                </a:solidFill>
                <a:latin typeface="Times New Roman"/>
                <a:ea typeface="Times New Roman"/>
                <a:cs typeface="Times New Roman"/>
                <a:sym typeface="Times New Roman"/>
              </a:rPr>
              <a:t>Blockages</a:t>
            </a:r>
            <a:r>
              <a:rPr lang="en-US" sz="1500" dirty="0">
                <a:solidFill>
                  <a:schemeClr val="dk1"/>
                </a:solidFill>
                <a:latin typeface="Times New Roman"/>
                <a:ea typeface="Times New Roman"/>
                <a:cs typeface="Times New Roman"/>
                <a:sym typeface="Times New Roman"/>
              </a:rPr>
              <a:t> caused by leaves, debris, and silt accumulation, reducing drainage efficiency.</a:t>
            </a:r>
            <a:endParaRPr sz="1500" dirty="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dirty="0">
                <a:solidFill>
                  <a:schemeClr val="dk1"/>
                </a:solidFill>
                <a:latin typeface="Times New Roman"/>
                <a:ea typeface="Times New Roman"/>
                <a:cs typeface="Times New Roman"/>
                <a:sym typeface="Times New Roman"/>
              </a:rPr>
              <a:t>Stagnant Water</a:t>
            </a:r>
            <a:r>
              <a:rPr lang="en-US" sz="1500" dirty="0">
                <a:solidFill>
                  <a:schemeClr val="dk1"/>
                </a:solidFill>
                <a:latin typeface="Times New Roman"/>
                <a:ea typeface="Times New Roman"/>
                <a:cs typeface="Times New Roman"/>
                <a:sym typeface="Times New Roman"/>
              </a:rPr>
              <a:t> resulting from poor flow, creating a breeding ground for pests and mosquitoes.</a:t>
            </a:r>
            <a:endParaRPr sz="1500" dirty="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dirty="0">
                <a:solidFill>
                  <a:schemeClr val="dk1"/>
                </a:solidFill>
                <a:latin typeface="Times New Roman"/>
                <a:ea typeface="Times New Roman"/>
                <a:cs typeface="Times New Roman"/>
                <a:sym typeface="Times New Roman"/>
              </a:rPr>
              <a:t>Structural Damage</a:t>
            </a:r>
            <a:r>
              <a:rPr lang="en-US" sz="1500" dirty="0">
                <a:solidFill>
                  <a:schemeClr val="dk1"/>
                </a:solidFill>
                <a:latin typeface="Times New Roman"/>
                <a:ea typeface="Times New Roman"/>
                <a:cs typeface="Times New Roman"/>
                <a:sym typeface="Times New Roman"/>
              </a:rPr>
              <a:t> due to prolonged clogs and unattended water retention.</a:t>
            </a:r>
            <a:endParaRPr sz="1500" dirty="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dirty="0">
                <a:solidFill>
                  <a:schemeClr val="dk1"/>
                </a:solidFill>
                <a:latin typeface="Times New Roman"/>
                <a:ea typeface="Times New Roman"/>
                <a:cs typeface="Times New Roman"/>
                <a:sym typeface="Times New Roman"/>
              </a:rPr>
              <a:t>High Maintenance Costs</a:t>
            </a:r>
            <a:r>
              <a:rPr lang="en-US" sz="1500" dirty="0">
                <a:solidFill>
                  <a:schemeClr val="dk1"/>
                </a:solidFill>
                <a:latin typeface="Times New Roman"/>
                <a:ea typeface="Times New Roman"/>
                <a:cs typeface="Times New Roman"/>
                <a:sym typeface="Times New Roman"/>
              </a:rPr>
              <a:t> owing to the need for frequent manual cleaning and inspection.</a:t>
            </a:r>
            <a:endParaRPr sz="1500" dirty="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r>
              <a:rPr lang="en-US" sz="1500" dirty="0">
                <a:solidFill>
                  <a:schemeClr val="dk1"/>
                </a:solidFill>
                <a:latin typeface="Times New Roman"/>
                <a:ea typeface="Times New Roman"/>
                <a:cs typeface="Times New Roman"/>
                <a:sym typeface="Times New Roman"/>
              </a:rPr>
              <a:t>The </a:t>
            </a:r>
            <a:r>
              <a:rPr lang="en-US" sz="1500" b="1" dirty="0">
                <a:solidFill>
                  <a:schemeClr val="dk1"/>
                </a:solidFill>
                <a:latin typeface="Times New Roman"/>
                <a:ea typeface="Times New Roman"/>
                <a:cs typeface="Times New Roman"/>
                <a:sym typeface="Times New Roman"/>
              </a:rPr>
              <a:t>Smart Gutter Management System</a:t>
            </a:r>
            <a:r>
              <a:rPr lang="en-US" sz="1500" dirty="0">
                <a:solidFill>
                  <a:schemeClr val="dk1"/>
                </a:solidFill>
                <a:latin typeface="Times New Roman"/>
                <a:ea typeface="Times New Roman"/>
                <a:cs typeface="Times New Roman"/>
                <a:sym typeface="Times New Roman"/>
              </a:rPr>
              <a:t> aims to provide a proactive, automated solution to monitor and address these issues using IoT and sensor-based technology.</a:t>
            </a:r>
            <a:endParaRPr sz="1500" dirty="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endParaRPr sz="1500" dirty="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p17"/>
          <p:cNvPicPr preferRelativeResize="0"/>
          <p:nvPr/>
        </p:nvPicPr>
        <p:blipFill>
          <a:blip r:embed="rId3">
            <a:alphaModFix/>
          </a:blip>
          <a:stretch>
            <a:fillRect/>
          </a:stretch>
        </p:blipFill>
        <p:spPr>
          <a:xfrm>
            <a:off x="132650" y="591550"/>
            <a:ext cx="4132226" cy="4382300"/>
          </a:xfrm>
          <a:prstGeom prst="rect">
            <a:avLst/>
          </a:prstGeom>
          <a:noFill/>
          <a:ln>
            <a:noFill/>
          </a:ln>
        </p:spPr>
      </p:pic>
      <p:pic>
        <p:nvPicPr>
          <p:cNvPr id="86" name="Google Shape;86;p17" title="GIF from Priya Gupta">
            <a:hlinkClick r:id="rId4"/>
          </p:cNvPr>
          <p:cNvPicPr preferRelativeResize="0"/>
          <p:nvPr/>
        </p:nvPicPr>
        <p:blipFill>
          <a:blip r:embed="rId5">
            <a:alphaModFix/>
          </a:blip>
          <a:stretch>
            <a:fillRect/>
          </a:stretch>
        </p:blipFill>
        <p:spPr>
          <a:xfrm>
            <a:off x="4381500" y="591550"/>
            <a:ext cx="4537525" cy="4382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fade">
                                      <p:cBhvr>
                                        <p:cTn id="7" dur="10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628560" y="273780"/>
            <a:ext cx="7886400" cy="993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400">
                <a:solidFill>
                  <a:srgbClr val="002060"/>
                </a:solidFill>
              </a:rPr>
              <a:t>Project overview - Introduction</a:t>
            </a:r>
            <a:endParaRPr/>
          </a:p>
        </p:txBody>
      </p:sp>
      <p:sp>
        <p:nvSpPr>
          <p:cNvPr id="92" name="Google Shape;92;p18"/>
          <p:cNvSpPr txBox="1">
            <a:spLocks noGrp="1"/>
          </p:cNvSpPr>
          <p:nvPr>
            <p:ph type="subTitle" idx="1"/>
          </p:nvPr>
        </p:nvSpPr>
        <p:spPr>
          <a:xfrm>
            <a:off x="926475" y="857250"/>
            <a:ext cx="7503300" cy="4040400"/>
          </a:xfrm>
          <a:prstGeom prst="rect">
            <a:avLst/>
          </a:prstGeom>
        </p:spPr>
        <p:txBody>
          <a:bodyPr spcFirstLastPara="1" wrap="square" lIns="0" tIns="0" rIns="0" bIns="0" anchor="ctr" anchorCtr="0">
            <a:noAutofit/>
          </a:bodyPr>
          <a:lstStyle/>
          <a:p>
            <a:pPr marL="0" lvl="0" indent="0" algn="just" rtl="0">
              <a:lnSpc>
                <a:spcPct val="115000"/>
              </a:lnSpc>
              <a:spcBef>
                <a:spcPts val="120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This project involves designing and implementing an IoT-based </a:t>
            </a:r>
            <a:r>
              <a:rPr lang="en-US" sz="1500" b="1">
                <a:solidFill>
                  <a:schemeClr val="dk1"/>
                </a:solidFill>
                <a:latin typeface="Times New Roman"/>
                <a:ea typeface="Times New Roman"/>
                <a:cs typeface="Times New Roman"/>
                <a:sym typeface="Times New Roman"/>
              </a:rPr>
              <a:t>Smart Gutter Management System</a:t>
            </a:r>
            <a:r>
              <a:rPr lang="en-US" sz="1500">
                <a:solidFill>
                  <a:schemeClr val="dk1"/>
                </a:solidFill>
                <a:latin typeface="Times New Roman"/>
                <a:ea typeface="Times New Roman"/>
                <a:cs typeface="Times New Roman"/>
                <a:sym typeface="Times New Roman"/>
              </a:rPr>
              <a:t> to prevent drainage inefficiencies. The system will consist of multiple interconnected components, including water level sensors, flow rate detectors, and automated blockage removal mechanisms. These components will work collaboratively under a cloud-based AI-driven monitoring system to ensure optimal water flow and minimal manual intervention.The proposed solution integrates sensors, automation, and cloud-based monitoring to:</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120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Detect and monitor water flow levels in real-time.</a:t>
            </a:r>
            <a:endParaRPr sz="1500" b="1">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Identify blockages and debris accumulation.</a:t>
            </a:r>
            <a:endParaRPr sz="1500" b="1">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Send instant alerts and notifications to users.</a:t>
            </a:r>
            <a:endParaRPr sz="1500" b="1">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Utilize AI/ML to predict potential drainage issues.</a:t>
            </a:r>
            <a:endParaRPr sz="1500" b="1">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Provide user-friendly mobile and web interfaces for real-time monitoring and control.</a:t>
            </a:r>
            <a:endParaRPr sz="1500" b="1">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This project not only aims to address immediate drainage concerns but also provides a scalable, smart city-compatible solution to enhance urban water management and sustainability.</a:t>
            </a:r>
            <a:endParaRPr sz="1500">
              <a:solidFill>
                <a:schemeClr val="dk1"/>
              </a:solidFill>
              <a:latin typeface="Times New Roman"/>
              <a:ea typeface="Times New Roman"/>
              <a:cs typeface="Times New Roman"/>
              <a:sym typeface="Times New Roman"/>
            </a:endParaRPr>
          </a:p>
          <a:p>
            <a:pPr marL="0" lvl="0" indent="0" algn="just" rtl="0">
              <a:spcBef>
                <a:spcPts val="1200"/>
              </a:spcBef>
              <a:spcAft>
                <a:spcPts val="0"/>
              </a:spcAft>
              <a:buNone/>
            </a:pPr>
            <a:endParaRPr sz="15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xfrm>
            <a:off x="628560" y="273780"/>
            <a:ext cx="7886400" cy="993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400">
                <a:solidFill>
                  <a:srgbClr val="002060"/>
                </a:solidFill>
              </a:rPr>
              <a:t>End User</a:t>
            </a:r>
            <a:endParaRPr/>
          </a:p>
        </p:txBody>
      </p:sp>
      <p:sp>
        <p:nvSpPr>
          <p:cNvPr id="98" name="Google Shape;98;p19"/>
          <p:cNvSpPr txBox="1">
            <a:spLocks noGrp="1"/>
          </p:cNvSpPr>
          <p:nvPr>
            <p:ph type="subTitle" idx="1"/>
          </p:nvPr>
        </p:nvSpPr>
        <p:spPr>
          <a:xfrm>
            <a:off x="885700" y="732925"/>
            <a:ext cx="7481400" cy="4088700"/>
          </a:xfrm>
          <a:prstGeom prst="rect">
            <a:avLst/>
          </a:prstGeom>
        </p:spPr>
        <p:txBody>
          <a:bodyPr spcFirstLastPara="1" wrap="square" lIns="0" tIns="0" rIns="0" bIns="0" anchor="ctr" anchorCtr="0">
            <a:noAutofit/>
          </a:bodyPr>
          <a:lstStyle/>
          <a:p>
            <a:pPr marL="0" lvl="0" indent="0" algn="just" rtl="0">
              <a:lnSpc>
                <a:spcPct val="115000"/>
              </a:lnSpc>
              <a:spcBef>
                <a:spcPts val="1200"/>
              </a:spcBef>
              <a:spcAft>
                <a:spcPts val="0"/>
              </a:spcAft>
              <a:buNone/>
            </a:pPr>
            <a:r>
              <a:rPr lang="en-US" sz="1500">
                <a:solidFill>
                  <a:schemeClr val="dk1"/>
                </a:solidFill>
                <a:latin typeface="Times New Roman"/>
                <a:ea typeface="Times New Roman"/>
                <a:cs typeface="Times New Roman"/>
                <a:sym typeface="Times New Roman"/>
              </a:rPr>
              <a:t>The smart gutter system is beneficial for various stakeholders, including:</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1200"/>
              </a:spcBef>
              <a:spcAft>
                <a:spcPts val="0"/>
              </a:spcAft>
              <a:buClr>
                <a:schemeClr val="dk1"/>
              </a:buClr>
              <a:buSzPts val="1500"/>
              <a:buChar char="●"/>
            </a:pPr>
            <a:r>
              <a:rPr lang="en-US" sz="1500" b="1">
                <a:solidFill>
                  <a:schemeClr val="dk1"/>
                </a:solidFill>
                <a:latin typeface="Times New Roman"/>
                <a:ea typeface="Times New Roman"/>
                <a:cs typeface="Times New Roman"/>
                <a:sym typeface="Times New Roman"/>
              </a:rPr>
              <a:t>Homeowners</a:t>
            </a:r>
            <a:r>
              <a:rPr lang="en-US" sz="1500">
                <a:solidFill>
                  <a:schemeClr val="dk1"/>
                </a:solidFill>
                <a:latin typeface="Times New Roman"/>
                <a:ea typeface="Times New Roman"/>
                <a:cs typeface="Times New Roman"/>
                <a:sym typeface="Times New Roman"/>
              </a:rPr>
              <a:t>: Protects residential properties by preventing water damage, reducing maintenance efforts, and ensuring efficient water drainage.</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a:solidFill>
                  <a:schemeClr val="dk1"/>
                </a:solidFill>
                <a:latin typeface="Times New Roman"/>
                <a:ea typeface="Times New Roman"/>
                <a:cs typeface="Times New Roman"/>
                <a:sym typeface="Times New Roman"/>
              </a:rPr>
              <a:t>Municipal Authorities</a:t>
            </a:r>
            <a:r>
              <a:rPr lang="en-US" sz="1500">
                <a:solidFill>
                  <a:schemeClr val="dk1"/>
                </a:solidFill>
                <a:latin typeface="Times New Roman"/>
                <a:ea typeface="Times New Roman"/>
                <a:cs typeface="Times New Roman"/>
                <a:sym typeface="Times New Roman"/>
              </a:rPr>
              <a:t>: Enables efficient management of large-scale public drainage networks, reducing the risk of urban flooding and minimizing infrastructure maintenance costs.</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a:solidFill>
                  <a:schemeClr val="dk1"/>
                </a:solidFill>
                <a:latin typeface="Times New Roman"/>
                <a:ea typeface="Times New Roman"/>
                <a:cs typeface="Times New Roman"/>
                <a:sym typeface="Times New Roman"/>
              </a:rPr>
              <a:t>Commercial Buildings</a:t>
            </a:r>
            <a:r>
              <a:rPr lang="en-US" sz="1500">
                <a:solidFill>
                  <a:schemeClr val="dk1"/>
                </a:solidFill>
                <a:latin typeface="Times New Roman"/>
                <a:ea typeface="Times New Roman"/>
                <a:cs typeface="Times New Roman"/>
                <a:sym typeface="Times New Roman"/>
              </a:rPr>
              <a:t>: Ensures seamless rainwater drainage, preventing operational disruptions, property damage, and potential safety hazards for businesses.</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a:solidFill>
                  <a:schemeClr val="dk1"/>
                </a:solidFill>
                <a:latin typeface="Times New Roman"/>
                <a:ea typeface="Times New Roman"/>
                <a:cs typeface="Times New Roman"/>
                <a:sym typeface="Times New Roman"/>
              </a:rPr>
              <a:t>Industrial Facilities</a:t>
            </a:r>
            <a:r>
              <a:rPr lang="en-US" sz="1500">
                <a:solidFill>
                  <a:schemeClr val="dk1"/>
                </a:solidFill>
                <a:latin typeface="Times New Roman"/>
                <a:ea typeface="Times New Roman"/>
                <a:cs typeface="Times New Roman"/>
                <a:sym typeface="Times New Roman"/>
              </a:rPr>
              <a:t>: Reduces downtime caused by poor drainage and stagnant water, which can lead to safety risks, equipment damage, and production losses.</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a:solidFill>
                  <a:schemeClr val="dk1"/>
                </a:solidFill>
                <a:latin typeface="Times New Roman"/>
                <a:ea typeface="Times New Roman"/>
                <a:cs typeface="Times New Roman"/>
                <a:sym typeface="Times New Roman"/>
              </a:rPr>
              <a:t>Smart Cities Initiatives</a:t>
            </a:r>
            <a:r>
              <a:rPr lang="en-US" sz="1500">
                <a:solidFill>
                  <a:schemeClr val="dk1"/>
                </a:solidFill>
                <a:latin typeface="Times New Roman"/>
                <a:ea typeface="Times New Roman"/>
                <a:cs typeface="Times New Roman"/>
                <a:sym typeface="Times New Roman"/>
              </a:rPr>
              <a:t>: Enhances urban drainage management by integrating with existing smart infrastructure, enabling data-driven decision-making, real-time monitoring, and predictive maintenance for optimized water management.</a:t>
            </a:r>
            <a:endParaRPr sz="1500">
              <a:solidFill>
                <a:schemeClr val="dk1"/>
              </a:solidFill>
              <a:latin typeface="Times New Roman"/>
              <a:ea typeface="Times New Roman"/>
              <a:cs typeface="Times New Roman"/>
              <a:sym typeface="Times New Roman"/>
            </a:endParaRPr>
          </a:p>
          <a:p>
            <a:pPr marL="0" lvl="0" indent="0" algn="just" rtl="0">
              <a:spcBef>
                <a:spcPts val="1200"/>
              </a:spcBef>
              <a:spcAft>
                <a:spcPts val="0"/>
              </a:spcAft>
              <a:buNone/>
            </a:pPr>
            <a:endParaRPr sz="15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0"/>
          <p:cNvSpPr txBox="1">
            <a:spLocks noGrp="1"/>
          </p:cNvSpPr>
          <p:nvPr>
            <p:ph type="title"/>
          </p:nvPr>
        </p:nvSpPr>
        <p:spPr>
          <a:xfrm>
            <a:off x="628560" y="273780"/>
            <a:ext cx="7886400" cy="993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400">
                <a:solidFill>
                  <a:srgbClr val="002060"/>
                </a:solidFill>
              </a:rPr>
              <a:t>Wow Factor in Solution</a:t>
            </a:r>
            <a:endParaRPr/>
          </a:p>
        </p:txBody>
      </p:sp>
      <p:sp>
        <p:nvSpPr>
          <p:cNvPr id="104" name="Google Shape;104;p20"/>
          <p:cNvSpPr txBox="1">
            <a:spLocks noGrp="1"/>
          </p:cNvSpPr>
          <p:nvPr>
            <p:ph type="subTitle" idx="1"/>
          </p:nvPr>
        </p:nvSpPr>
        <p:spPr>
          <a:xfrm>
            <a:off x="948225" y="857250"/>
            <a:ext cx="7350900" cy="4286400"/>
          </a:xfrm>
          <a:prstGeom prst="rect">
            <a:avLst/>
          </a:prstGeom>
        </p:spPr>
        <p:txBody>
          <a:bodyPr spcFirstLastPara="1" wrap="square" lIns="0" tIns="0" rIns="0" bIns="0" anchor="ctr" anchorCtr="0">
            <a:noAutofit/>
          </a:bodyPr>
          <a:lstStyle/>
          <a:p>
            <a:pPr marL="0" lvl="0" indent="0" algn="just" rtl="0">
              <a:lnSpc>
                <a:spcPct val="115000"/>
              </a:lnSpc>
              <a:spcBef>
                <a:spcPts val="120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This project stands out due to its advanced features:</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1200"/>
              </a:spcBef>
              <a:spcAft>
                <a:spcPts val="0"/>
              </a:spcAft>
              <a:buClr>
                <a:schemeClr val="dk1"/>
              </a:buClr>
              <a:buSzPts val="1500"/>
              <a:buChar char="●"/>
            </a:pPr>
            <a:r>
              <a:rPr lang="en-US" sz="1500" b="1">
                <a:solidFill>
                  <a:schemeClr val="dk1"/>
                </a:solidFill>
                <a:latin typeface="Times New Roman"/>
                <a:ea typeface="Times New Roman"/>
                <a:cs typeface="Times New Roman"/>
                <a:sym typeface="Times New Roman"/>
              </a:rPr>
              <a:t>Real-time Data Monitoring</a:t>
            </a:r>
            <a:r>
              <a:rPr lang="en-US" sz="1500">
                <a:solidFill>
                  <a:schemeClr val="dk1"/>
                </a:solidFill>
                <a:latin typeface="Times New Roman"/>
                <a:ea typeface="Times New Roman"/>
                <a:cs typeface="Times New Roman"/>
                <a:sym typeface="Times New Roman"/>
              </a:rPr>
              <a:t>: The system continuously tracks water levels, flow rate, and debris status, ensuring up-to-date information on drainage conditions.</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a:solidFill>
                  <a:schemeClr val="dk1"/>
                </a:solidFill>
                <a:latin typeface="Times New Roman"/>
                <a:ea typeface="Times New Roman"/>
                <a:cs typeface="Times New Roman"/>
                <a:sym typeface="Times New Roman"/>
              </a:rPr>
              <a:t>IoT and Cloud Integration</a:t>
            </a:r>
            <a:r>
              <a:rPr lang="en-US" sz="1500">
                <a:solidFill>
                  <a:schemeClr val="dk1"/>
                </a:solidFill>
                <a:latin typeface="Times New Roman"/>
                <a:ea typeface="Times New Roman"/>
                <a:cs typeface="Times New Roman"/>
                <a:sym typeface="Times New Roman"/>
              </a:rPr>
              <a:t>: Provides remote access and control via mobile and web applications, allowing users to monitor and manage drainage systems from anywhere.</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a:solidFill>
                  <a:schemeClr val="dk1"/>
                </a:solidFill>
                <a:latin typeface="Times New Roman"/>
                <a:ea typeface="Times New Roman"/>
                <a:cs typeface="Times New Roman"/>
                <a:sym typeface="Times New Roman"/>
              </a:rPr>
              <a:t>AI-Powered Predictive Maintenance</a:t>
            </a:r>
            <a:r>
              <a:rPr lang="en-US" sz="1500">
                <a:solidFill>
                  <a:schemeClr val="dk1"/>
                </a:solidFill>
                <a:latin typeface="Times New Roman"/>
                <a:ea typeface="Times New Roman"/>
                <a:cs typeface="Times New Roman"/>
                <a:sym typeface="Times New Roman"/>
              </a:rPr>
              <a:t>: Uses historical data and weather forecasts to predict potential drainage failures, enabling proactive solutions before blockages or overflows occur.</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a:solidFill>
                  <a:schemeClr val="dk1"/>
                </a:solidFill>
                <a:latin typeface="Times New Roman"/>
                <a:ea typeface="Times New Roman"/>
                <a:cs typeface="Times New Roman"/>
                <a:sym typeface="Times New Roman"/>
              </a:rPr>
              <a:t>User Alerts and Notifications</a:t>
            </a:r>
            <a:r>
              <a:rPr lang="en-US" sz="1500">
                <a:solidFill>
                  <a:schemeClr val="dk1"/>
                </a:solidFill>
                <a:latin typeface="Times New Roman"/>
                <a:ea typeface="Times New Roman"/>
                <a:cs typeface="Times New Roman"/>
                <a:sym typeface="Times New Roman"/>
              </a:rPr>
              <a:t>: Sends SMS, email, or app alerts when issues are detected, ensuring immediate response and quick decision-making.</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a:solidFill>
                  <a:schemeClr val="dk1"/>
                </a:solidFill>
                <a:latin typeface="Times New Roman"/>
                <a:ea typeface="Times New Roman"/>
                <a:cs typeface="Times New Roman"/>
                <a:sym typeface="Times New Roman"/>
              </a:rPr>
              <a:t>Self-Learning Mechanism</a:t>
            </a:r>
            <a:r>
              <a:rPr lang="en-US" sz="1500">
                <a:solidFill>
                  <a:schemeClr val="dk1"/>
                </a:solidFill>
                <a:latin typeface="Times New Roman"/>
                <a:ea typeface="Times New Roman"/>
                <a:cs typeface="Times New Roman"/>
                <a:sym typeface="Times New Roman"/>
              </a:rPr>
              <a:t>: The system improves over time by learning from past drainage patterns, optimizing responses to different weather conditions and potential risks.</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a:solidFill>
                  <a:schemeClr val="dk1"/>
                </a:solidFill>
                <a:latin typeface="Times New Roman"/>
                <a:ea typeface="Times New Roman"/>
                <a:cs typeface="Times New Roman"/>
                <a:sym typeface="Times New Roman"/>
              </a:rPr>
              <a:t>Customizable Settings</a:t>
            </a:r>
            <a:r>
              <a:rPr lang="en-US" sz="1500">
                <a:solidFill>
                  <a:schemeClr val="dk1"/>
                </a:solidFill>
                <a:latin typeface="Times New Roman"/>
                <a:ea typeface="Times New Roman"/>
                <a:cs typeface="Times New Roman"/>
                <a:sym typeface="Times New Roman"/>
              </a:rPr>
              <a:t>: Users can define their own thresholds for alerts and drainage responses, tailoring the system to their specific needs and environmental conditions.</a:t>
            </a:r>
            <a:endParaRPr sz="1500">
              <a:solidFill>
                <a:schemeClr val="dk1"/>
              </a:solidFill>
              <a:latin typeface="Times New Roman"/>
              <a:ea typeface="Times New Roman"/>
              <a:cs typeface="Times New Roman"/>
              <a:sym typeface="Times New Roman"/>
            </a:endParaRPr>
          </a:p>
          <a:p>
            <a:pPr marL="0" lvl="0" indent="0" algn="just" rtl="0">
              <a:spcBef>
                <a:spcPts val="1200"/>
              </a:spcBef>
              <a:spcAft>
                <a:spcPts val="0"/>
              </a:spcAft>
              <a:buNone/>
            </a:pPr>
            <a:endParaRPr sz="15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400">
                <a:solidFill>
                  <a:srgbClr val="002060"/>
                </a:solidFill>
              </a:rPr>
              <a:t>Modelling</a:t>
            </a:r>
            <a:endParaRPr/>
          </a:p>
        </p:txBody>
      </p:sp>
      <p:pic>
        <p:nvPicPr>
          <p:cNvPr id="110" name="Google Shape;110;p21"/>
          <p:cNvPicPr preferRelativeResize="0"/>
          <p:nvPr/>
        </p:nvPicPr>
        <p:blipFill>
          <a:blip r:embed="rId3">
            <a:alphaModFix/>
          </a:blip>
          <a:stretch>
            <a:fillRect/>
          </a:stretch>
        </p:blipFill>
        <p:spPr>
          <a:xfrm>
            <a:off x="783100" y="930725"/>
            <a:ext cx="7733574" cy="4010524"/>
          </a:xfrm>
          <a:prstGeom prst="rect">
            <a:avLst/>
          </a:prstGeom>
          <a:noFill/>
          <a:ln>
            <a:noFill/>
          </a:ln>
        </p:spPr>
      </p:pic>
      <p:cxnSp>
        <p:nvCxnSpPr>
          <p:cNvPr id="111" name="Google Shape;111;p21"/>
          <p:cNvCxnSpPr/>
          <p:nvPr/>
        </p:nvCxnSpPr>
        <p:spPr>
          <a:xfrm>
            <a:off x="796000" y="1472375"/>
            <a:ext cx="1827300" cy="0"/>
          </a:xfrm>
          <a:prstGeom prst="straightConnector1">
            <a:avLst/>
          </a:prstGeom>
          <a:noFill/>
          <a:ln w="9525" cap="flat" cmpd="sng">
            <a:solidFill>
              <a:schemeClr val="dk2"/>
            </a:solidFill>
            <a:prstDash val="solid"/>
            <a:round/>
            <a:headEnd type="none" w="med" len="med"/>
            <a:tailEnd type="none" w="med" len="med"/>
          </a:ln>
        </p:spPr>
      </p:cxnSp>
      <p:cxnSp>
        <p:nvCxnSpPr>
          <p:cNvPr id="112" name="Google Shape;112;p21"/>
          <p:cNvCxnSpPr/>
          <p:nvPr/>
        </p:nvCxnSpPr>
        <p:spPr>
          <a:xfrm>
            <a:off x="785125" y="1472375"/>
            <a:ext cx="0" cy="978600"/>
          </a:xfrm>
          <a:prstGeom prst="straightConnector1">
            <a:avLst/>
          </a:prstGeom>
          <a:noFill/>
          <a:ln w="9525" cap="flat" cmpd="sng">
            <a:solidFill>
              <a:schemeClr val="dk2"/>
            </a:solidFill>
            <a:prstDash val="solid"/>
            <a:round/>
            <a:headEnd type="none" w="med" len="med"/>
            <a:tailEnd type="none" w="med" len="med"/>
          </a:ln>
        </p:spPr>
      </p:cxnSp>
      <p:cxnSp>
        <p:nvCxnSpPr>
          <p:cNvPr id="113" name="Google Shape;113;p21"/>
          <p:cNvCxnSpPr/>
          <p:nvPr/>
        </p:nvCxnSpPr>
        <p:spPr>
          <a:xfrm rot="10800000" flipH="1">
            <a:off x="3231825" y="1461575"/>
            <a:ext cx="1870500" cy="10800"/>
          </a:xfrm>
          <a:prstGeom prst="straightConnector1">
            <a:avLst/>
          </a:prstGeom>
          <a:noFill/>
          <a:ln w="9525" cap="flat" cmpd="sng">
            <a:solidFill>
              <a:schemeClr val="dk2"/>
            </a:solidFill>
            <a:prstDash val="solid"/>
            <a:round/>
            <a:headEnd type="none" w="med" len="med"/>
            <a:tailEnd type="none" w="med" len="med"/>
          </a:ln>
        </p:spPr>
      </p:cxnSp>
      <p:cxnSp>
        <p:nvCxnSpPr>
          <p:cNvPr id="114" name="Google Shape;114;p21"/>
          <p:cNvCxnSpPr/>
          <p:nvPr/>
        </p:nvCxnSpPr>
        <p:spPr>
          <a:xfrm>
            <a:off x="5711125" y="1461500"/>
            <a:ext cx="1892100" cy="10800"/>
          </a:xfrm>
          <a:prstGeom prst="straightConnector1">
            <a:avLst/>
          </a:prstGeom>
          <a:noFill/>
          <a:ln w="9525" cap="flat" cmpd="sng">
            <a:solidFill>
              <a:schemeClr val="dk2"/>
            </a:solidFill>
            <a:prstDash val="solid"/>
            <a:round/>
            <a:headEnd type="none" w="med" len="med"/>
            <a:tailEnd type="none" w="med" len="med"/>
          </a:ln>
        </p:spPr>
      </p:cxnSp>
      <p:cxnSp>
        <p:nvCxnSpPr>
          <p:cNvPr id="115" name="Google Shape;115;p21"/>
          <p:cNvCxnSpPr/>
          <p:nvPr/>
        </p:nvCxnSpPr>
        <p:spPr>
          <a:xfrm>
            <a:off x="7646750" y="3353600"/>
            <a:ext cx="0" cy="1054800"/>
          </a:xfrm>
          <a:prstGeom prst="straightConnector1">
            <a:avLst/>
          </a:prstGeom>
          <a:noFill/>
          <a:ln w="9525" cap="flat" cmpd="sng">
            <a:solidFill>
              <a:schemeClr val="dk2"/>
            </a:solidFill>
            <a:prstDash val="solid"/>
            <a:round/>
            <a:headEnd type="none" w="med" len="med"/>
            <a:tailEnd type="none" w="med" len="med"/>
          </a:ln>
        </p:spPr>
      </p:cxnSp>
      <p:cxnSp>
        <p:nvCxnSpPr>
          <p:cNvPr id="116" name="Google Shape;116;p21"/>
          <p:cNvCxnSpPr/>
          <p:nvPr/>
        </p:nvCxnSpPr>
        <p:spPr>
          <a:xfrm>
            <a:off x="2611975" y="4941250"/>
            <a:ext cx="18051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400">
                <a:solidFill>
                  <a:srgbClr val="002060"/>
                </a:solidFill>
              </a:rPr>
              <a:t>Result </a:t>
            </a:r>
            <a:endParaRPr/>
          </a:p>
        </p:txBody>
      </p:sp>
      <p:sp>
        <p:nvSpPr>
          <p:cNvPr id="122" name="Google Shape;122;p22"/>
          <p:cNvSpPr txBox="1"/>
          <p:nvPr/>
        </p:nvSpPr>
        <p:spPr>
          <a:xfrm>
            <a:off x="656700" y="857250"/>
            <a:ext cx="7830600" cy="4613700"/>
          </a:xfrm>
          <a:prstGeom prst="rect">
            <a:avLst/>
          </a:prstGeom>
          <a:noFill/>
          <a:ln>
            <a:noFill/>
          </a:ln>
        </p:spPr>
        <p:txBody>
          <a:bodyPr spcFirstLastPara="1" wrap="square" lIns="91425" tIns="45700" rIns="91425" bIns="45700" anchor="t" anchorCtr="0">
            <a:spAutoFit/>
          </a:bodyPr>
          <a:lstStyle/>
          <a:p>
            <a:pPr marL="0" lvl="0" indent="0" algn="just" rtl="0">
              <a:lnSpc>
                <a:spcPct val="115000"/>
              </a:lnSpc>
              <a:spcBef>
                <a:spcPts val="120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The Smart Gutter Management System is expected to achieve:</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1200"/>
              </a:spcBef>
              <a:spcAft>
                <a:spcPts val="0"/>
              </a:spcAft>
              <a:buClr>
                <a:schemeClr val="dk1"/>
              </a:buClr>
              <a:buSzPts val="1500"/>
              <a:buChar char="●"/>
            </a:pPr>
            <a:r>
              <a:rPr lang="en-US" sz="1500" b="1">
                <a:solidFill>
                  <a:schemeClr val="dk1"/>
                </a:solidFill>
                <a:latin typeface="Times New Roman"/>
                <a:ea typeface="Times New Roman"/>
                <a:cs typeface="Times New Roman"/>
                <a:sym typeface="Times New Roman"/>
              </a:rPr>
              <a:t>Enhanced Water Drainage Efficiency</a:t>
            </a:r>
            <a:r>
              <a:rPr lang="en-US" sz="1500">
                <a:solidFill>
                  <a:schemeClr val="dk1"/>
                </a:solidFill>
                <a:latin typeface="Times New Roman"/>
                <a:ea typeface="Times New Roman"/>
                <a:cs typeface="Times New Roman"/>
                <a:sym typeface="Times New Roman"/>
              </a:rPr>
              <a:t>: Continuous monitoring prevents overflow and stagnation, ensuring optimal water movement even in extreme weather conditions.</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a:solidFill>
                  <a:schemeClr val="dk1"/>
                </a:solidFill>
                <a:latin typeface="Times New Roman"/>
                <a:ea typeface="Times New Roman"/>
                <a:cs typeface="Times New Roman"/>
                <a:sym typeface="Times New Roman"/>
              </a:rPr>
              <a:t>Minimized Flooding and Water Damage</a:t>
            </a:r>
            <a:r>
              <a:rPr lang="en-US" sz="1500">
                <a:solidFill>
                  <a:schemeClr val="dk1"/>
                </a:solidFill>
                <a:latin typeface="Times New Roman"/>
                <a:ea typeface="Times New Roman"/>
                <a:cs typeface="Times New Roman"/>
                <a:sym typeface="Times New Roman"/>
              </a:rPr>
              <a:t>: Real-time alerts enable quick action, preventing severe water damage to residential, commercial, and public infrastructure.</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a:solidFill>
                  <a:schemeClr val="dk1"/>
                </a:solidFill>
                <a:latin typeface="Times New Roman"/>
                <a:ea typeface="Times New Roman"/>
                <a:cs typeface="Times New Roman"/>
                <a:sym typeface="Times New Roman"/>
              </a:rPr>
              <a:t>Optimized Resource Usage</a:t>
            </a:r>
            <a:r>
              <a:rPr lang="en-US" sz="1500">
                <a:solidFill>
                  <a:schemeClr val="dk1"/>
                </a:solidFill>
                <a:latin typeface="Times New Roman"/>
                <a:ea typeface="Times New Roman"/>
                <a:cs typeface="Times New Roman"/>
                <a:sym typeface="Times New Roman"/>
              </a:rPr>
              <a:t>: AI-driven analytics help in predictive maintenance, reducing unnecessary repairs and maximizing the efficiency of drainage systems.</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a:solidFill>
                  <a:schemeClr val="dk1"/>
                </a:solidFill>
                <a:latin typeface="Times New Roman"/>
                <a:ea typeface="Times New Roman"/>
                <a:cs typeface="Times New Roman"/>
                <a:sym typeface="Times New Roman"/>
              </a:rPr>
              <a:t>Improved Safety and Hygiene</a:t>
            </a:r>
            <a:r>
              <a:rPr lang="en-US" sz="1500">
                <a:solidFill>
                  <a:schemeClr val="dk1"/>
                </a:solidFill>
                <a:latin typeface="Times New Roman"/>
                <a:ea typeface="Times New Roman"/>
                <a:cs typeface="Times New Roman"/>
                <a:sym typeface="Times New Roman"/>
              </a:rPr>
              <a:t>: By preventing water stagnation and clogging, the system reduces breeding grounds for mosquitoes and other pests, improving public health and safety.</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a:solidFill>
                  <a:schemeClr val="dk1"/>
                </a:solidFill>
                <a:latin typeface="Times New Roman"/>
                <a:ea typeface="Times New Roman"/>
                <a:cs typeface="Times New Roman"/>
                <a:sym typeface="Times New Roman"/>
              </a:rPr>
              <a:t>Scalability and Adaptability</a:t>
            </a:r>
            <a:r>
              <a:rPr lang="en-US" sz="1500">
                <a:solidFill>
                  <a:schemeClr val="dk1"/>
                </a:solidFill>
                <a:latin typeface="Times New Roman"/>
                <a:ea typeface="Times New Roman"/>
                <a:cs typeface="Times New Roman"/>
                <a:sym typeface="Times New Roman"/>
              </a:rPr>
              <a:t>: The system can be deployed across various environments, from small residential areas to large-scale urban infrastructure, ensuring adaptability to different drainage challenges.</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a:solidFill>
                  <a:schemeClr val="dk1"/>
                </a:solidFill>
                <a:latin typeface="Times New Roman"/>
                <a:ea typeface="Times New Roman"/>
                <a:cs typeface="Times New Roman"/>
                <a:sym typeface="Times New Roman"/>
              </a:rPr>
              <a:t>Data-Driven Decision Making</a:t>
            </a:r>
            <a:r>
              <a:rPr lang="en-US" sz="1500">
                <a:solidFill>
                  <a:schemeClr val="dk1"/>
                </a:solidFill>
                <a:latin typeface="Times New Roman"/>
                <a:ea typeface="Times New Roman"/>
                <a:cs typeface="Times New Roman"/>
                <a:sym typeface="Times New Roman"/>
              </a:rPr>
              <a:t>: The integration of cloud and AI-based analytics provides insightful reports for municipalities and urban planners, enabling better resource allocation and infrastructure improvements.</a:t>
            </a:r>
            <a:endParaRPr sz="1500">
              <a:solidFill>
                <a:schemeClr val="dk1"/>
              </a:solidFill>
              <a:latin typeface="Times New Roman"/>
              <a:ea typeface="Times New Roman"/>
              <a:cs typeface="Times New Roman"/>
              <a:sym typeface="Times New Roman"/>
            </a:endParaRPr>
          </a:p>
          <a:p>
            <a:pPr marL="0" marR="0" lvl="0" indent="0" algn="just" rtl="0">
              <a:lnSpc>
                <a:spcPct val="100000"/>
              </a:lnSpc>
              <a:spcBef>
                <a:spcPts val="1200"/>
              </a:spcBef>
              <a:spcAft>
                <a:spcPts val="0"/>
              </a:spcAft>
              <a:buNone/>
            </a:pPr>
            <a:endParaRPr sz="15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3"/>
          <p:cNvSpPr txBox="1">
            <a:spLocks noGrp="1"/>
          </p:cNvSpPr>
          <p:nvPr>
            <p:ph type="title"/>
          </p:nvPr>
        </p:nvSpPr>
        <p:spPr>
          <a:xfrm>
            <a:off x="628560" y="273780"/>
            <a:ext cx="7886400" cy="993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400">
                <a:solidFill>
                  <a:srgbClr val="002060"/>
                </a:solidFill>
              </a:rPr>
              <a:t>Conclusion</a:t>
            </a:r>
            <a:endParaRPr/>
          </a:p>
        </p:txBody>
      </p:sp>
      <p:sp>
        <p:nvSpPr>
          <p:cNvPr id="128" name="Google Shape;128;p23"/>
          <p:cNvSpPr txBox="1">
            <a:spLocks noGrp="1"/>
          </p:cNvSpPr>
          <p:nvPr>
            <p:ph type="subTitle" idx="1"/>
          </p:nvPr>
        </p:nvSpPr>
        <p:spPr>
          <a:xfrm>
            <a:off x="850375" y="857250"/>
            <a:ext cx="7546800" cy="3638100"/>
          </a:xfrm>
          <a:prstGeom prst="rect">
            <a:avLst/>
          </a:prstGeom>
        </p:spPr>
        <p:txBody>
          <a:bodyPr spcFirstLastPara="1" wrap="square" lIns="0" tIns="0" rIns="0" bIns="0" anchor="ctr" anchorCtr="0">
            <a:noAutofit/>
          </a:bodyPr>
          <a:lstStyle/>
          <a:p>
            <a:pPr marL="0" lvl="0" indent="0" algn="just" rtl="0">
              <a:lnSpc>
                <a:spcPct val="115000"/>
              </a:lnSpc>
              <a:spcBef>
                <a:spcPts val="120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The </a:t>
            </a:r>
            <a:r>
              <a:rPr lang="en-US" sz="1500" b="1">
                <a:solidFill>
                  <a:schemeClr val="dk1"/>
                </a:solidFill>
                <a:latin typeface="Times New Roman"/>
                <a:ea typeface="Times New Roman"/>
                <a:cs typeface="Times New Roman"/>
                <a:sym typeface="Times New Roman"/>
              </a:rPr>
              <a:t>Smart Gutter Management System</a:t>
            </a:r>
            <a:r>
              <a:rPr lang="en-US" sz="1500">
                <a:solidFill>
                  <a:schemeClr val="dk1"/>
                </a:solidFill>
                <a:latin typeface="Times New Roman"/>
                <a:ea typeface="Times New Roman"/>
                <a:cs typeface="Times New Roman"/>
                <a:sym typeface="Times New Roman"/>
              </a:rPr>
              <a:t> offers a revolutionary approach to addressing drainage issues using modern technology. By integrating IoT, AI, and automation, it enhances efficiency, reduces manual labor, and ensures proactive maintenance. Its key benefits include:</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12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Prevention of water stagnation and blockage-related damages.</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Increased cost-effectiveness through predictive maintenance.</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Improved urban drainage infrastructure for smart city initiatives.</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Scalable and adaptable solutions for different environments.</a:t>
            </a:r>
            <a:endParaRPr sz="15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This system represents a significant step towards intelligent water management, ensuring safer and more efficient drainage solutions.</a:t>
            </a:r>
            <a:endParaRPr sz="1500">
              <a:solidFill>
                <a:schemeClr val="dk1"/>
              </a:solidFill>
              <a:latin typeface="Times New Roman"/>
              <a:ea typeface="Times New Roman"/>
              <a:cs typeface="Times New Roman"/>
              <a:sym typeface="Times New Roman"/>
            </a:endParaRPr>
          </a:p>
          <a:p>
            <a:pPr marL="0" lvl="0" indent="0" algn="just" rtl="0">
              <a:spcBef>
                <a:spcPts val="1200"/>
              </a:spcBef>
              <a:spcAft>
                <a:spcPts val="0"/>
              </a:spcAft>
              <a:buNone/>
            </a:pP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4"/>
          <p:cNvSpPr txBox="1">
            <a:spLocks noGrp="1"/>
          </p:cNvSpPr>
          <p:nvPr>
            <p:ph type="title"/>
          </p:nvPr>
        </p:nvSpPr>
        <p:spPr>
          <a:xfrm>
            <a:off x="628560" y="273780"/>
            <a:ext cx="7886400" cy="993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2400" dirty="0">
                <a:solidFill>
                  <a:srgbClr val="002060"/>
                </a:solidFill>
              </a:rPr>
              <a:t>Future Perspective:</a:t>
            </a:r>
            <a:endParaRPr dirty="0"/>
          </a:p>
        </p:txBody>
      </p:sp>
      <p:sp>
        <p:nvSpPr>
          <p:cNvPr id="134" name="Google Shape;134;p24"/>
          <p:cNvSpPr txBox="1">
            <a:spLocks noGrp="1"/>
          </p:cNvSpPr>
          <p:nvPr>
            <p:ph type="subTitle" idx="1"/>
          </p:nvPr>
        </p:nvSpPr>
        <p:spPr>
          <a:xfrm>
            <a:off x="861250" y="983025"/>
            <a:ext cx="7307400" cy="4160400"/>
          </a:xfrm>
          <a:prstGeom prst="rect">
            <a:avLst/>
          </a:prstGeom>
        </p:spPr>
        <p:txBody>
          <a:bodyPr spcFirstLastPara="1" wrap="square" lIns="0" tIns="0" rIns="0" bIns="0" anchor="ctr" anchorCtr="0">
            <a:noAutofit/>
          </a:bodyPr>
          <a:lstStyle/>
          <a:p>
            <a:pPr marL="0" lvl="0" indent="0" algn="just" rtl="0">
              <a:lnSpc>
                <a:spcPct val="115000"/>
              </a:lnSpc>
              <a:spcBef>
                <a:spcPts val="1200"/>
              </a:spcBef>
              <a:spcAft>
                <a:spcPts val="0"/>
              </a:spcAft>
              <a:buClr>
                <a:schemeClr val="dk1"/>
              </a:buClr>
              <a:buSzPts val="1100"/>
              <a:buFont typeface="Arial"/>
              <a:buNone/>
            </a:pPr>
            <a:r>
              <a:rPr lang="en-US" sz="1500" dirty="0">
                <a:solidFill>
                  <a:schemeClr val="dk1"/>
                </a:solidFill>
                <a:latin typeface="Times New Roman"/>
                <a:ea typeface="Times New Roman"/>
                <a:cs typeface="Times New Roman"/>
                <a:sym typeface="Times New Roman"/>
              </a:rPr>
              <a:t>The project can be enhanced further with advanced features such as:</a:t>
            </a:r>
            <a:endParaRPr sz="1500" dirty="0">
              <a:solidFill>
                <a:schemeClr val="dk1"/>
              </a:solidFill>
              <a:latin typeface="Times New Roman"/>
              <a:ea typeface="Times New Roman"/>
              <a:cs typeface="Times New Roman"/>
              <a:sym typeface="Times New Roman"/>
            </a:endParaRPr>
          </a:p>
          <a:p>
            <a:pPr marL="457200" lvl="0" indent="-323850" algn="just" rtl="0">
              <a:lnSpc>
                <a:spcPct val="115000"/>
              </a:lnSpc>
              <a:spcBef>
                <a:spcPts val="1200"/>
              </a:spcBef>
              <a:spcAft>
                <a:spcPts val="0"/>
              </a:spcAft>
              <a:buClr>
                <a:schemeClr val="dk1"/>
              </a:buClr>
              <a:buSzPts val="1500"/>
              <a:buChar char="●"/>
            </a:pPr>
            <a:r>
              <a:rPr lang="en-US" sz="1500" b="1" dirty="0">
                <a:solidFill>
                  <a:schemeClr val="dk1"/>
                </a:solidFill>
                <a:latin typeface="Times New Roman"/>
                <a:ea typeface="Times New Roman"/>
                <a:cs typeface="Times New Roman"/>
                <a:sym typeface="Times New Roman"/>
              </a:rPr>
              <a:t>AI-based Predictive Analytics</a:t>
            </a:r>
            <a:r>
              <a:rPr lang="en-US" sz="1500" dirty="0">
                <a:solidFill>
                  <a:schemeClr val="dk1"/>
                </a:solidFill>
                <a:latin typeface="Times New Roman"/>
                <a:ea typeface="Times New Roman"/>
                <a:cs typeface="Times New Roman"/>
                <a:sym typeface="Times New Roman"/>
              </a:rPr>
              <a:t>: Implement deep learning models to forecast potential drainage failures.</a:t>
            </a:r>
            <a:endParaRPr sz="1500" dirty="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dirty="0">
                <a:solidFill>
                  <a:schemeClr val="dk1"/>
                </a:solidFill>
                <a:latin typeface="Times New Roman"/>
                <a:ea typeface="Times New Roman"/>
                <a:cs typeface="Times New Roman"/>
                <a:sym typeface="Times New Roman"/>
              </a:rPr>
              <a:t>Integration with Smart City Infrastructure</a:t>
            </a:r>
            <a:r>
              <a:rPr lang="en-US" sz="1500" dirty="0">
                <a:solidFill>
                  <a:schemeClr val="dk1"/>
                </a:solidFill>
                <a:latin typeface="Times New Roman"/>
                <a:ea typeface="Times New Roman"/>
                <a:cs typeface="Times New Roman"/>
                <a:sym typeface="Times New Roman"/>
              </a:rPr>
              <a:t>: Connecting with municipal drainage networks for large-scale optimization.</a:t>
            </a:r>
            <a:endParaRPr sz="1500" dirty="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dirty="0">
                <a:solidFill>
                  <a:schemeClr val="dk1"/>
                </a:solidFill>
                <a:latin typeface="Times New Roman"/>
                <a:ea typeface="Times New Roman"/>
                <a:cs typeface="Times New Roman"/>
                <a:sym typeface="Times New Roman"/>
              </a:rPr>
              <a:t>Solar-Powered Units</a:t>
            </a:r>
            <a:r>
              <a:rPr lang="en-US" sz="1500" dirty="0">
                <a:solidFill>
                  <a:schemeClr val="dk1"/>
                </a:solidFill>
                <a:latin typeface="Times New Roman"/>
                <a:ea typeface="Times New Roman"/>
                <a:cs typeface="Times New Roman"/>
                <a:sym typeface="Times New Roman"/>
              </a:rPr>
              <a:t>: Increasing sustainability by utilizing renewable energy sources.</a:t>
            </a:r>
            <a:endParaRPr sz="1500" dirty="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dirty="0">
                <a:solidFill>
                  <a:schemeClr val="dk1"/>
                </a:solidFill>
                <a:latin typeface="Times New Roman"/>
                <a:ea typeface="Times New Roman"/>
                <a:cs typeface="Times New Roman"/>
                <a:sym typeface="Times New Roman"/>
              </a:rPr>
              <a:t>Enhanced User Interface</a:t>
            </a:r>
            <a:r>
              <a:rPr lang="en-US" sz="1500" dirty="0">
                <a:solidFill>
                  <a:schemeClr val="dk1"/>
                </a:solidFill>
                <a:latin typeface="Times New Roman"/>
                <a:ea typeface="Times New Roman"/>
                <a:cs typeface="Times New Roman"/>
                <a:sym typeface="Times New Roman"/>
              </a:rPr>
              <a:t>: AI-driven chatbot support and voice-command capabilities for better user interaction.</a:t>
            </a:r>
            <a:endParaRPr sz="1500" dirty="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Char char="●"/>
            </a:pPr>
            <a:r>
              <a:rPr lang="en-US" sz="1500" b="1" dirty="0">
                <a:solidFill>
                  <a:schemeClr val="dk1"/>
                </a:solidFill>
                <a:latin typeface="Times New Roman"/>
                <a:ea typeface="Times New Roman"/>
                <a:cs typeface="Times New Roman"/>
                <a:sym typeface="Times New Roman"/>
              </a:rPr>
              <a:t>Camera-Based Monitoring</a:t>
            </a:r>
            <a:r>
              <a:rPr lang="en-US" sz="1500" dirty="0">
                <a:solidFill>
                  <a:schemeClr val="dk1"/>
                </a:solidFill>
                <a:latin typeface="Times New Roman"/>
                <a:ea typeface="Times New Roman"/>
                <a:cs typeface="Times New Roman"/>
                <a:sym typeface="Times New Roman"/>
              </a:rPr>
              <a:t>: Implementing AI-enabled cameras to detect debris accumulation and structural issues, enhancing real-time surveillance and automated decision-making.</a:t>
            </a:r>
            <a:endParaRPr sz="1500" dirty="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1500" dirty="0">
                <a:solidFill>
                  <a:schemeClr val="dk1"/>
                </a:solidFill>
                <a:latin typeface="Times New Roman"/>
                <a:ea typeface="Times New Roman"/>
                <a:cs typeface="Times New Roman"/>
                <a:sym typeface="Times New Roman"/>
              </a:rPr>
              <a:t>By expanding its capabilities, the Smart Gutter Management System can play a significant role in modern drainage solutions and smart urban planning.</a:t>
            </a:r>
            <a:endParaRPr sz="1500" dirty="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5"/>
          <p:cNvSpPr txBox="1"/>
          <p:nvPr/>
        </p:nvSpPr>
        <p:spPr>
          <a:xfrm>
            <a:off x="3166669" y="2193074"/>
            <a:ext cx="2810662" cy="466453"/>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None/>
            </a:pPr>
            <a:r>
              <a:rPr lang="en-US" sz="2500" b="0" i="0" u="none" strike="noStrike" cap="none">
                <a:solidFill>
                  <a:schemeClr val="dk1"/>
                </a:solidFill>
                <a:latin typeface="Arial"/>
                <a:ea typeface="Arial"/>
                <a:cs typeface="Arial"/>
                <a:sym typeface="Arial"/>
              </a:rPr>
              <a:t>Thank you...!</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TotalTime>
  <Words>1213</Words>
  <Application>Microsoft Office PowerPoint</Application>
  <PresentationFormat>On-screen Show (16:9)</PresentationFormat>
  <Paragraphs>66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Simple Light</vt:lpstr>
      <vt:lpstr>PowerPoint Presentation</vt:lpstr>
      <vt:lpstr>Project Objectives</vt:lpstr>
      <vt:lpstr>Problem Statement</vt:lpstr>
      <vt:lpstr>PowerPoint Presentation</vt:lpstr>
      <vt:lpstr>Project overview - Introduction</vt:lpstr>
      <vt:lpstr>End User</vt:lpstr>
      <vt:lpstr>Wow Factor in Solution</vt:lpstr>
      <vt:lpstr>Modelling</vt:lpstr>
      <vt:lpstr>Result </vt:lpstr>
      <vt:lpstr>Conclusion</vt:lpstr>
      <vt:lpstr>Future Perspective: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nikki ram</cp:lastModifiedBy>
  <cp:revision>1</cp:revision>
  <dcterms:modified xsi:type="dcterms:W3CDTF">2025-04-06T07:15:51Z</dcterms:modified>
</cp:coreProperties>
</file>